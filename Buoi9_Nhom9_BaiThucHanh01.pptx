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8" r:id="rId5"/>
    <p:sldId id="263" r:id="rId6"/>
    <p:sldId id="264" r:id="rId7"/>
    <p:sldId id="265" r:id="rId8"/>
    <p:sldId id="266" r:id="rId9"/>
    <p:sldId id="267"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ình Nen_FirstSlide" id="{943B8C98-EA32-4404-86DF-BEB10EC0D7C6}">
          <p14:sldIdLst>
            <p14:sldId id="256"/>
            <p14:sldId id="258"/>
            <p14:sldId id="263"/>
            <p14:sldId id="264"/>
            <p14:sldId id="265"/>
            <p14:sldId id="266"/>
            <p14:sldId id="267"/>
            <p14:sldId id="268"/>
          </p14:sldIdLst>
        </p14:section>
        <p14:section name="Untitled Section" id="{8D01C14E-A05C-4CED-870A-39F55C7BC88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78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C160CF-5EA3-4904-B891-DDE7CD3547ED}"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DCA8D7-8BCA-44F6-8A1C-D601E6C9555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DCA8D7-8BCA-44F6-8A1C-D601E6C95555}"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hình Nen_FirstSlide">
    <p:spTree>
      <p:nvGrpSpPr>
        <p:cNvPr id="1" name=""/>
        <p:cNvGrpSpPr/>
        <p:nvPr/>
      </p:nvGrpSpPr>
      <p:grpSpPr>
        <a:xfrm>
          <a:off x="0" y="0"/>
          <a:ext cx="0" cy="0"/>
          <a:chOff x="0" y="0"/>
          <a:chExt cx="0" cy="0"/>
        </a:xfrm>
      </p:grpSpPr>
      <p:pic>
        <p:nvPicPr>
          <p:cNvPr id="9" name="Picture 8" descr="Logo-Ctu"/>
          <p:cNvPicPr>
            <a:picLocks noChangeAspect="1"/>
          </p:cNvPicPr>
          <p:nvPr userDrawn="1"/>
        </p:nvPicPr>
        <p:blipFill>
          <a:blip r:embed="rId2">
            <a:alphaModFix amt="20000"/>
          </a:blip>
          <a:stretch>
            <a:fillRect/>
          </a:stretch>
        </p:blipFill>
        <p:spPr>
          <a:xfrm>
            <a:off x="3212465" y="591185"/>
            <a:ext cx="5766435" cy="5765165"/>
          </a:xfrm>
          <a:prstGeom prst="rect">
            <a:avLst/>
          </a:prstGeom>
        </p:spPr>
      </p:pic>
      <p:sp>
        <p:nvSpPr>
          <p:cNvPr id="2" name="Title 1"/>
          <p:cNvSpPr>
            <a:spLocks noGrp="1"/>
          </p:cNvSpPr>
          <p:nvPr>
            <p:ph type="ctrTitle" hasCustomPrompt="1"/>
          </p:nvPr>
        </p:nvSpPr>
        <p:spPr>
          <a:xfrm>
            <a:off x="1524000" y="1122363"/>
            <a:ext cx="9144000" cy="2387600"/>
          </a:xfrm>
        </p:spPr>
        <p:txBody>
          <a:bodyPr anchor="b">
            <a:normAutofit/>
          </a:bodyPr>
          <a:lstStyle>
            <a:lvl1pPr algn="ctr">
              <a:defRPr sz="5400" baseline="0"/>
            </a:lvl1pPr>
          </a:lstStyle>
          <a:p>
            <a:r>
              <a:rPr lang="en-US" smtClean="0"/>
              <a:t>BỐ CỤC MỘT BÀI THUYẾT TRÌNH</a:t>
            </a:r>
            <a:endParaRPr lang="en-US"/>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ThS. Họ và tên</a:t>
            </a:r>
            <a:endParaRPr lang="en-US" smtClean="0"/>
          </a:p>
          <a:p>
            <a:endParaRPr lang="en-US" smtClean="0"/>
          </a:p>
          <a:p>
            <a:endParaRPr lang="en-US" smtClean="0"/>
          </a:p>
          <a:p>
            <a:endParaRPr lang="en-US" smtClean="0"/>
          </a:p>
          <a:p>
            <a:r>
              <a:rPr lang="en-US" smtClean="0"/>
              <a:t>                                                            Trích từ Tủ sách Khoa học VLOS</a:t>
            </a:r>
            <a:endParaRPr lang="en-US"/>
          </a:p>
        </p:txBody>
      </p:sp>
      <p:sp>
        <p:nvSpPr>
          <p:cNvPr id="4" name="Date Placeholder 3"/>
          <p:cNvSpPr>
            <a:spLocks noGrp="1"/>
          </p:cNvSpPr>
          <p:nvPr>
            <p:ph type="dt" sz="half" idx="10"/>
          </p:nvPr>
        </p:nvSpPr>
        <p:spPr/>
        <p:txBody>
          <a:bodyPr/>
          <a:lstStyle/>
          <a:p>
            <a:fld id="{4EEA63C3-FA46-4D89-AF91-EECB2F6A66C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lvl1pPr>
          </a:lstStyle>
          <a:p>
            <a:r>
              <a:rPr lang="en-US" smtClean="0"/>
              <a:t>1</a:t>
            </a:r>
            <a:endParaRPr lang="en-US"/>
          </a:p>
        </p:txBody>
      </p:sp>
      <p:sp>
        <p:nvSpPr>
          <p:cNvPr id="8" name="AutoShape 4" descr="CTU Branding - Nhận diện thương hiệu"/>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smtClean="0"/>
              <a:t>Giới thiệu</a:t>
            </a:r>
            <a:endParaRPr lang="en-US"/>
          </a:p>
        </p:txBody>
      </p:sp>
      <p:sp>
        <p:nvSpPr>
          <p:cNvPr id="3" name="Content Placeholder 2"/>
          <p:cNvSpPr>
            <a:spLocks noGrp="1"/>
          </p:cNvSpPr>
          <p:nvPr>
            <p:ph idx="1" hasCustomPrompt="1"/>
          </p:nvPr>
        </p:nvSpPr>
        <p:spPr/>
        <p:txBody>
          <a:bodyPr/>
          <a:lstStyle>
            <a:lvl1pPr>
              <a:defRPr baseline="0"/>
            </a:lvl1pPr>
            <a:lvl2pPr>
              <a:defRPr baseline="0"/>
            </a:lvl2pPr>
          </a:lstStyle>
          <a:p>
            <a:pPr lvl="0"/>
            <a:r>
              <a:rPr lang="en-US" smtClean="0"/>
              <a:t>Phần mở đầu</a:t>
            </a:r>
            <a:endParaRPr lang="en-US" smtClean="0"/>
          </a:p>
          <a:p>
            <a:pPr lvl="1"/>
            <a:r>
              <a:rPr lang="en-US" smtClean="0"/>
              <a:t>Cần đạt được mục địch</a:t>
            </a:r>
            <a:endParaRPr lang="en-US" smtClean="0"/>
          </a:p>
          <a:p>
            <a:pPr lvl="0"/>
            <a:r>
              <a:rPr lang="en-US" smtClean="0"/>
              <a:t>Phần chính</a:t>
            </a:r>
            <a:endParaRPr lang="en-US" smtClean="0"/>
          </a:p>
          <a:p>
            <a:pPr lvl="1"/>
            <a:r>
              <a:rPr lang="en-US" smtClean="0"/>
              <a:t>Đưa ra giải pháp ý kiến</a:t>
            </a:r>
            <a:endParaRPr lang="en-US" smtClean="0"/>
          </a:p>
          <a:p>
            <a:pPr lvl="0"/>
            <a:r>
              <a:rPr lang="en-US" smtClean="0"/>
              <a:t>Phần kết</a:t>
            </a:r>
            <a:endParaRPr lang="en-US" smtClean="0"/>
          </a:p>
          <a:p>
            <a:pPr lvl="1"/>
            <a:r>
              <a:rPr lang="en-US" smtClean="0"/>
              <a:t>Tóm tắt các nội dung đã được trình bày</a:t>
            </a:r>
            <a:endParaRPr lang="en-US" smtClean="0"/>
          </a:p>
        </p:txBody>
      </p:sp>
      <p:sp>
        <p:nvSpPr>
          <p:cNvPr id="8" name="Date Placeholder 7"/>
          <p:cNvSpPr>
            <a:spLocks noGrp="1"/>
          </p:cNvSpPr>
          <p:nvPr>
            <p:ph type="dt" sz="half" idx="10"/>
          </p:nvPr>
        </p:nvSpPr>
        <p:spPr/>
        <p:txBody>
          <a:bodyPr/>
          <a:lstStyle/>
          <a:p>
            <a:fld id="{4EEA63C3-FA46-4D89-AF91-EECB2F6A66CD}" type="datetimeFigureOut">
              <a:rPr lang="en-US" smtClean="0"/>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lvl1pPr>
              <a:defRPr/>
            </a:lvl1pPr>
          </a:lstStyle>
          <a:p>
            <a:r>
              <a:rPr lang="en-US" smtClean="0"/>
              <a:t>2</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smtClean="0"/>
              <a:t>Phần mở đầu</a:t>
            </a:r>
            <a:endParaRPr lang="en-US"/>
          </a:p>
        </p:txBody>
      </p:sp>
      <p:sp>
        <p:nvSpPr>
          <p:cNvPr id="3" name="Content Placeholder 2"/>
          <p:cNvSpPr>
            <a:spLocks noGrp="1"/>
          </p:cNvSpPr>
          <p:nvPr>
            <p:ph idx="1" hasCustomPrompt="1"/>
          </p:nvPr>
        </p:nvSpPr>
        <p:spPr/>
        <p:txBody>
          <a:bodyPr/>
          <a:lstStyle>
            <a:lvl1pPr>
              <a:defRPr baseline="0"/>
            </a:lvl1pPr>
            <a:lvl2pPr>
              <a:defRPr baseline="0"/>
            </a:lvl2pPr>
          </a:lstStyle>
          <a:p>
            <a:pPr lvl="0"/>
            <a:r>
              <a:rPr lang="en-US" smtClean="0"/>
              <a:t>Thu hút sự chú ý của người nghe</a:t>
            </a:r>
            <a:endParaRPr lang="en-US" smtClean="0"/>
          </a:p>
          <a:p>
            <a:pPr lvl="1"/>
            <a:r>
              <a:rPr lang="en-US" smtClean="0"/>
              <a:t>Sử dụng một đoạn trích dẫn</a:t>
            </a:r>
            <a:endParaRPr lang="en-US" smtClean="0"/>
          </a:p>
          <a:p>
            <a:pPr lvl="1"/>
            <a:r>
              <a:rPr lang="en-US" smtClean="0"/>
              <a:t>Một câu hỏi</a:t>
            </a:r>
            <a:endParaRPr lang="en-US" smtClean="0"/>
          </a:p>
          <a:p>
            <a:pPr lvl="1"/>
            <a:r>
              <a:rPr lang="en-US" smtClean="0"/>
              <a:t>Một lời hứa</a:t>
            </a:r>
            <a:endParaRPr lang="en-US" smtClean="0"/>
          </a:p>
          <a:p>
            <a:pPr lvl="1"/>
            <a:r>
              <a:rPr lang="en-US" smtClean="0"/>
              <a:t>Thậm chí làm mọi người phải hoạt động</a:t>
            </a:r>
            <a:endParaRPr lang="en-US" smtClean="0"/>
          </a:p>
          <a:p>
            <a:pPr lvl="0"/>
            <a:r>
              <a:rPr lang="en-US" smtClean="0"/>
              <a:t>Tóm lược các nội dung liên quan</a:t>
            </a:r>
            <a:endParaRPr lang="en-US" smtClean="0"/>
          </a:p>
          <a:p>
            <a:pPr lvl="1"/>
            <a:r>
              <a:rPr lang="en-US" smtClean="0"/>
              <a:t>Đã được trình bày</a:t>
            </a:r>
            <a:endParaRPr lang="en-US" smtClean="0"/>
          </a:p>
          <a:p>
            <a:pPr lvl="1"/>
            <a:r>
              <a:rPr lang="en-US" smtClean="0"/>
              <a:t>Được đa số người nghe biết rõ</a:t>
            </a:r>
            <a:endParaRPr lang="en-US" smtClean="0"/>
          </a:p>
        </p:txBody>
      </p:sp>
      <p:sp>
        <p:nvSpPr>
          <p:cNvPr id="8" name="Date Placeholder 7"/>
          <p:cNvSpPr>
            <a:spLocks noGrp="1"/>
          </p:cNvSpPr>
          <p:nvPr>
            <p:ph type="dt" sz="half" idx="10"/>
          </p:nvPr>
        </p:nvSpPr>
        <p:spPr/>
        <p:txBody>
          <a:bodyPr/>
          <a:lstStyle/>
          <a:p>
            <a:fld id="{4EEA63C3-FA46-4D89-AF91-EECB2F6A66CD}" type="datetimeFigureOut">
              <a:rPr lang="en-US" smtClean="0"/>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lvl1pPr>
              <a:defRPr/>
            </a:lvl1pPr>
          </a:lstStyle>
          <a:p>
            <a:r>
              <a:rPr lang="en-US" smtClean="0"/>
              <a:t>3</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smtClean="0"/>
              <a:t>Phần chính</a:t>
            </a:r>
            <a:endParaRPr lang="en-US"/>
          </a:p>
        </p:txBody>
      </p:sp>
      <p:sp>
        <p:nvSpPr>
          <p:cNvPr id="3" name="Content Placeholder 2"/>
          <p:cNvSpPr>
            <a:spLocks noGrp="1"/>
          </p:cNvSpPr>
          <p:nvPr>
            <p:ph idx="1" hasCustomPrompt="1"/>
          </p:nvPr>
        </p:nvSpPr>
        <p:spPr/>
        <p:txBody>
          <a:bodyPr/>
          <a:lstStyle>
            <a:lvl1pPr>
              <a:defRPr baseline="0"/>
            </a:lvl1pPr>
            <a:lvl2pPr>
              <a:defRPr baseline="0"/>
            </a:lvl2pPr>
          </a:lstStyle>
          <a:p>
            <a:pPr lvl="0"/>
            <a:r>
              <a:rPr lang="en-US" smtClean="0"/>
              <a:t>Phần chính với các nội dung</a:t>
            </a:r>
            <a:endParaRPr lang="en-US" smtClean="0"/>
          </a:p>
          <a:p>
            <a:pPr lvl="1"/>
            <a:r>
              <a:rPr lang="en-US" smtClean="0"/>
              <a:t>Vấn đề cần giải quyết, yêu cầu công việc</a:t>
            </a:r>
            <a:endParaRPr lang="en-US" smtClean="0"/>
          </a:p>
          <a:p>
            <a:pPr lvl="1"/>
            <a:r>
              <a:rPr lang="en-US" smtClean="0"/>
              <a:t>Ý tưởng và giải pháp</a:t>
            </a:r>
            <a:endParaRPr lang="en-US" smtClean="0"/>
          </a:p>
          <a:p>
            <a:pPr lvl="1"/>
            <a:r>
              <a:rPr lang="en-US" smtClean="0"/>
              <a:t>Cung cấp ví dụ để chứng minh</a:t>
            </a:r>
            <a:endParaRPr lang="en-US" smtClean="0"/>
          </a:p>
          <a:p>
            <a:pPr lvl="1"/>
            <a:r>
              <a:rPr lang="en-US" smtClean="0"/>
              <a:t>Lợi ích khi áp dụng giải pháp</a:t>
            </a:r>
            <a:endParaRPr lang="en-US" smtClean="0"/>
          </a:p>
          <a:p>
            <a:pPr lvl="1"/>
            <a:r>
              <a:rPr lang="en-US" smtClean="0"/>
              <a:t>Chương trình hành động/các việc làm cụ thể</a:t>
            </a:r>
            <a:endParaRPr lang="en-US" smtClean="0"/>
          </a:p>
        </p:txBody>
      </p:sp>
      <p:sp>
        <p:nvSpPr>
          <p:cNvPr id="8" name="Date Placeholder 7"/>
          <p:cNvSpPr>
            <a:spLocks noGrp="1"/>
          </p:cNvSpPr>
          <p:nvPr>
            <p:ph type="dt" sz="half" idx="10"/>
          </p:nvPr>
        </p:nvSpPr>
        <p:spPr/>
        <p:txBody>
          <a:bodyPr/>
          <a:lstStyle/>
          <a:p>
            <a:fld id="{4EEA63C3-FA46-4D89-AF91-EECB2F6A66CD}" type="datetimeFigureOut">
              <a:rPr lang="en-US" smtClean="0"/>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lvl1pPr>
              <a:defRPr/>
            </a:lvl1pPr>
          </a:lstStyle>
          <a:p>
            <a:r>
              <a:rPr lang="en-US" smtClean="0"/>
              <a:t>4</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smtClean="0"/>
              <a:t>Phần kết</a:t>
            </a:r>
            <a:endParaRPr lang="en-US"/>
          </a:p>
        </p:txBody>
      </p:sp>
      <p:sp>
        <p:nvSpPr>
          <p:cNvPr id="3" name="Content Placeholder 2"/>
          <p:cNvSpPr>
            <a:spLocks noGrp="1"/>
          </p:cNvSpPr>
          <p:nvPr>
            <p:ph idx="1" hasCustomPrompt="1"/>
          </p:nvPr>
        </p:nvSpPr>
        <p:spPr/>
        <p:txBody>
          <a:bodyPr/>
          <a:lstStyle>
            <a:lvl1pPr>
              <a:defRPr baseline="0"/>
            </a:lvl1pPr>
            <a:lvl2pPr>
              <a:defRPr baseline="0"/>
            </a:lvl2pPr>
          </a:lstStyle>
          <a:p>
            <a:pPr lvl="0"/>
            <a:r>
              <a:rPr lang="en-US" smtClean="0"/>
              <a:t>Tóm tắt</a:t>
            </a:r>
            <a:endParaRPr lang="en-US" smtClean="0"/>
          </a:p>
          <a:p>
            <a:pPr lvl="0"/>
            <a:r>
              <a:rPr lang="en-US" smtClean="0"/>
              <a:t>Kết luận cuối cùng</a:t>
            </a:r>
            <a:endParaRPr lang="en-US" smtClean="0"/>
          </a:p>
          <a:p>
            <a:pPr lvl="1"/>
            <a:r>
              <a:rPr lang="en-US" smtClean="0"/>
              <a:t>Liệu còn điều gì bạn muốn người nghe ghi nhớ?</a:t>
            </a:r>
            <a:endParaRPr lang="en-US" smtClean="0"/>
          </a:p>
        </p:txBody>
      </p:sp>
      <p:sp>
        <p:nvSpPr>
          <p:cNvPr id="8" name="Date Placeholder 7"/>
          <p:cNvSpPr>
            <a:spLocks noGrp="1"/>
          </p:cNvSpPr>
          <p:nvPr>
            <p:ph type="dt" sz="half" idx="10"/>
          </p:nvPr>
        </p:nvSpPr>
        <p:spPr/>
        <p:txBody>
          <a:bodyPr/>
          <a:lstStyle/>
          <a:p>
            <a:fld id="{4EEA63C3-FA46-4D89-AF91-EECB2F6A66CD}" type="datetimeFigureOut">
              <a:rPr lang="en-US" smtClean="0"/>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lvl1pPr>
              <a:defRPr/>
            </a:lvl1pPr>
          </a:lstStyle>
          <a:p>
            <a:r>
              <a:rPr lang="en-US" smtClean="0"/>
              <a:t>5</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par>
    </p:tnLst>
  </p:timing>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hình Nen_Last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7000" y="2048151"/>
            <a:ext cx="6423991" cy="1325563"/>
          </a:xfrm>
        </p:spPr>
        <p:txBody>
          <a:bodyPr/>
          <a:lstStyle>
            <a:lvl1pPr>
              <a:defRPr baseline="0">
                <a:solidFill>
                  <a:schemeClr val="tx1"/>
                </a:solidFill>
              </a:defRPr>
            </a:lvl1pPr>
          </a:lstStyle>
          <a:p>
            <a:r>
              <a:rPr lang="en-US" smtClean="0"/>
              <a:t>Cảm ơn sự chú ý của quý vị</a:t>
            </a:r>
            <a:endParaRPr lang="en-US"/>
          </a:p>
        </p:txBody>
      </p:sp>
      <p:sp>
        <p:nvSpPr>
          <p:cNvPr id="3" name="Date Placeholder 2"/>
          <p:cNvSpPr>
            <a:spLocks noGrp="1"/>
          </p:cNvSpPr>
          <p:nvPr>
            <p:ph type="dt" sz="half" idx="10"/>
          </p:nvPr>
        </p:nvSpPr>
        <p:spPr/>
        <p:txBody>
          <a:bodyPr/>
          <a:lstStyle/>
          <a:p>
            <a:fld id="{4EEA63C3-FA46-4D89-AF91-EECB2F6A66C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lvl1pPr>
          </a:lstStyle>
          <a:p>
            <a:r>
              <a:rPr lang="en-US" smtClean="0"/>
              <a:t>6</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par>
    </p:tnLst>
  </p:timing>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600" baseline="0"/>
            </a:lvl1pPr>
          </a:lstStyle>
          <a:p>
            <a:r>
              <a:rPr lang="en-US" smtClean="0"/>
              <a:t>Ví dụ: sử dụng một đoạn trích dẫn khi giới thiệu</a:t>
            </a:r>
            <a:endParaRPr lang="en-US"/>
          </a:p>
        </p:txBody>
      </p:sp>
      <p:sp>
        <p:nvSpPr>
          <p:cNvPr id="3" name="Content Placeholder 2"/>
          <p:cNvSpPr>
            <a:spLocks noGrp="1"/>
          </p:cNvSpPr>
          <p:nvPr>
            <p:ph idx="1" hasCustomPrompt="1"/>
          </p:nvPr>
        </p:nvSpPr>
        <p:spPr/>
        <p:txBody>
          <a:bodyPr/>
          <a:lstStyle>
            <a:lvl1pPr>
              <a:defRPr baseline="0"/>
            </a:lvl1pPr>
            <a:lvl2pPr marL="457200" indent="0">
              <a:buNone/>
              <a:defRPr baseline="0"/>
            </a:lvl2pPr>
            <a:lvl8pPr marL="3200400" indent="0">
              <a:buNone/>
              <a:defRPr/>
            </a:lvl8pPr>
          </a:lstStyle>
          <a:p>
            <a:pPr lvl="0"/>
            <a:r>
              <a:rPr lang="en-US" smtClean="0"/>
              <a:t>Ví dụ: Ta có thể phát biểu trích dẫn lợi ích khi học ngành công nghệ thông tin</a:t>
            </a:r>
            <a:endParaRPr lang="en-US" smtClean="0"/>
          </a:p>
          <a:p>
            <a:pPr lvl="1"/>
            <a:r>
              <a:rPr lang="en-US" smtClean="0"/>
              <a:t>“Hàng năm, công nghệ mới luôn được phát triển và thể hiện tầm quan trọng của nó đối với cuộc sống. Các doanh nghiệp cũng dần thay đổi về nhân sự giỏi công nghệ. Ngành học CNTT được coi là lĩnh vực ngày một phát triển và trở nên hữu ích cho các bạn muốn xây dựng sự nghiệp với ngành này. Vậy những lợi ích khi học CNTT là gì?</a:t>
            </a:r>
            <a:endParaRPr lang="en-US" smtClean="0"/>
          </a:p>
        </p:txBody>
      </p:sp>
      <p:sp>
        <p:nvSpPr>
          <p:cNvPr id="8" name="Date Placeholder 7"/>
          <p:cNvSpPr>
            <a:spLocks noGrp="1"/>
          </p:cNvSpPr>
          <p:nvPr>
            <p:ph type="dt" sz="half" idx="10"/>
          </p:nvPr>
        </p:nvSpPr>
        <p:spPr/>
        <p:txBody>
          <a:bodyPr/>
          <a:lstStyle/>
          <a:p>
            <a:fld id="{4EEA63C3-FA46-4D89-AF91-EECB2F6A66CD}" type="datetimeFigureOut">
              <a:rPr lang="en-US" smtClean="0"/>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lvl1pPr>
              <a:defRPr/>
            </a:lvl1pPr>
          </a:lstStyle>
          <a:p>
            <a:r>
              <a:rPr lang="en-US" smtClean="0"/>
              <a:t>7</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par>
    </p:tnLst>
  </p:timing>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smtClean="0"/>
              <a:t>Ví dụ minh chứng một vấn đề</a:t>
            </a:r>
            <a:endParaRPr lang="en-US"/>
          </a:p>
        </p:txBody>
      </p:sp>
      <p:sp>
        <p:nvSpPr>
          <p:cNvPr id="3" name="Content Placeholder 2"/>
          <p:cNvSpPr>
            <a:spLocks noGrp="1"/>
          </p:cNvSpPr>
          <p:nvPr>
            <p:ph idx="1" hasCustomPrompt="1"/>
          </p:nvPr>
        </p:nvSpPr>
        <p:spPr/>
        <p:txBody>
          <a:bodyPr/>
          <a:lstStyle>
            <a:lvl1pPr>
              <a:defRPr baseline="0"/>
            </a:lvl1pPr>
            <a:lvl2pPr marL="457200" marR="0" indent="0" algn="l" defTabSz="914400" rtl="0" eaLnBrk="1" fontAlgn="auto" latinLnBrk="0" hangingPunct="1">
              <a:lnSpc>
                <a:spcPct val="90000"/>
              </a:lnSpc>
              <a:spcBef>
                <a:spcPts val="500"/>
              </a:spcBef>
              <a:spcAft>
                <a:spcPts val="0"/>
              </a:spcAft>
              <a:buClrTx/>
              <a:buSzTx/>
              <a:buFont typeface="Times New Roman" panose="02020603050405020304" pitchFamily="18" charset="0"/>
              <a:buNone/>
              <a:defRPr sz="2800" baseline="0"/>
            </a:lvl2pPr>
          </a:lstStyle>
          <a:p>
            <a:pPr lvl="0"/>
            <a:r>
              <a:rPr lang="en-US" smtClean="0"/>
              <a:t>Bảng thống kê kết quả tuyển sinh 2020</a:t>
            </a:r>
            <a:endParaRPr lang="en-US" smtClean="0"/>
          </a:p>
          <a:p>
            <a:pPr marL="457200" marR="0" lvl="1" indent="0" algn="l" defTabSz="914400" rtl="0" eaLnBrk="1" fontAlgn="auto" latinLnBrk="0" hangingPunct="1">
              <a:lnSpc>
                <a:spcPct val="90000"/>
              </a:lnSpc>
              <a:spcBef>
                <a:spcPts val="500"/>
              </a:spcBef>
              <a:spcAft>
                <a:spcPts val="0"/>
              </a:spcAft>
              <a:buClrTx/>
              <a:buSzTx/>
              <a:buFont typeface="Times New Roman" panose="02020603050405020304" pitchFamily="18" charset="0"/>
              <a:buNone/>
              <a:defRPr/>
            </a:pPr>
            <a:r>
              <a:rPr lang="en-US" sz="1800" b="1" i="0" u="none" strike="noStrike" kern="1200" smtClean="0">
                <a:solidFill>
                  <a:srgbClr val="FFFFFF"/>
                </a:solidFill>
                <a:effectLst/>
                <a:latin typeface="Calibri" panose="020F0502020204030204" pitchFamily="34" charset="0"/>
              </a:rPr>
              <a:t>t</a:t>
            </a:r>
            <a:endParaRPr lang="en-US" sz="1800" b="0" i="0" u="none" strike="noStrike" smtClean="0">
              <a:effectLst/>
              <a:latin typeface="Arial" panose="020B0604020202020204" pitchFamily="34" charset="0"/>
            </a:endParaRPr>
          </a:p>
          <a:p>
            <a:pPr lvl="1"/>
            <a:endParaRPr lang="en-US" smtClean="0"/>
          </a:p>
        </p:txBody>
      </p:sp>
      <p:sp>
        <p:nvSpPr>
          <p:cNvPr id="8" name="Date Placeholder 7"/>
          <p:cNvSpPr>
            <a:spLocks noGrp="1"/>
          </p:cNvSpPr>
          <p:nvPr>
            <p:ph type="dt" sz="half" idx="10"/>
          </p:nvPr>
        </p:nvSpPr>
        <p:spPr/>
        <p:txBody>
          <a:bodyPr/>
          <a:lstStyle/>
          <a:p>
            <a:fld id="{4EEA63C3-FA46-4D89-AF91-EECB2F6A66CD}" type="datetimeFigureOut">
              <a:rPr lang="en-US" smtClean="0"/>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lvl1pPr>
              <a:defRPr/>
            </a:lvl1pPr>
          </a:lstStyle>
          <a:p>
            <a:r>
              <a:rPr lang="en-US" smtClean="0"/>
              <a:t>8</a:t>
            </a:r>
            <a:endParaRPr lang="en-US"/>
          </a:p>
        </p:txBody>
      </p:sp>
      <p:graphicFrame>
        <p:nvGraphicFramePr>
          <p:cNvPr id="5" name="Table 4"/>
          <p:cNvGraphicFramePr>
            <a:graphicFrameLocks noGrp="1"/>
          </p:cNvGraphicFramePr>
          <p:nvPr userDrawn="1"/>
        </p:nvGraphicFramePr>
        <p:xfrm>
          <a:off x="1435652" y="2468563"/>
          <a:ext cx="8128000" cy="3708400"/>
        </p:xfrm>
        <a:graphic>
          <a:graphicData uri="http://schemas.openxmlformats.org/drawingml/2006/table">
            <a:tbl>
              <a:tblPr firstRow="1" bandRow="1">
                <a:tableStyleId>{5C22544A-7EE6-4342-B048-85BDC9FD1C3A}</a:tableStyleId>
              </a:tblPr>
              <a:tblGrid>
                <a:gridCol w="4991652"/>
                <a:gridCol w="3136348"/>
              </a:tblGrid>
              <a:tr h="370840">
                <a:tc>
                  <a:txBody>
                    <a:bodyPr/>
                    <a:lstStyle/>
                    <a:p>
                      <a:r>
                        <a:rPr lang="en-US" baseline="0" smtClean="0">
                          <a:solidFill>
                            <a:schemeClr val="tx1"/>
                          </a:solidFill>
                        </a:rPr>
                        <a:t>Tên ngành/chuyên ngành</a:t>
                      </a:r>
                      <a:endParaRPr lang="en-US" baseline="0" smtClean="0">
                        <a:solidFill>
                          <a:schemeClr val="tx1"/>
                        </a:solidFill>
                      </a:endParaRPr>
                    </a:p>
                  </a:txBody>
                  <a:tcPr>
                    <a:solidFill>
                      <a:schemeClr val="bg2"/>
                    </a:solidFill>
                  </a:tcPr>
                </a:tc>
                <a:tc>
                  <a:txBody>
                    <a:bodyPr/>
                    <a:lstStyle/>
                    <a:p>
                      <a:pPr algn="r"/>
                      <a:r>
                        <a:rPr lang="en-US" baseline="0" smtClean="0">
                          <a:solidFill>
                            <a:schemeClr val="tx1"/>
                          </a:solidFill>
                        </a:rPr>
                        <a:t>Số lượng tuyển sinh</a:t>
                      </a:r>
                      <a:endParaRPr lang="en-US" baseline="0">
                        <a:solidFill>
                          <a:schemeClr val="tx1"/>
                        </a:solidFill>
                      </a:endParaRPr>
                    </a:p>
                  </a:txBody>
                  <a:tcPr>
                    <a:solidFill>
                      <a:schemeClr val="bg2"/>
                    </a:solidFill>
                  </a:tcPr>
                </a:tc>
              </a:tr>
              <a:tr h="370840">
                <a:tc>
                  <a:txBody>
                    <a:bodyPr/>
                    <a:lstStyle/>
                    <a:p>
                      <a:r>
                        <a:rPr lang="en-US" baseline="0" smtClean="0">
                          <a:solidFill>
                            <a:schemeClr val="tx1"/>
                          </a:solidFill>
                        </a:rPr>
                        <a:t>Công nghệ thông tin</a:t>
                      </a:r>
                      <a:endParaRPr lang="en-US" baseline="0">
                        <a:solidFill>
                          <a:schemeClr val="tx1"/>
                        </a:solidFill>
                      </a:endParaRPr>
                    </a:p>
                  </a:txBody>
                  <a:tcPr>
                    <a:solidFill>
                      <a:schemeClr val="bg2"/>
                    </a:solidFill>
                  </a:tcPr>
                </a:tc>
                <a:tc>
                  <a:txBody>
                    <a:bodyPr/>
                    <a:lstStyle/>
                    <a:p>
                      <a:pPr algn="r"/>
                      <a:r>
                        <a:rPr lang="en-US" baseline="0" smtClean="0">
                          <a:solidFill>
                            <a:schemeClr val="tx1"/>
                          </a:solidFill>
                        </a:rPr>
                        <a:t>272</a:t>
                      </a:r>
                      <a:endParaRPr lang="en-US" baseline="0">
                        <a:solidFill>
                          <a:schemeClr val="tx1"/>
                        </a:solidFill>
                      </a:endParaRPr>
                    </a:p>
                  </a:txBody>
                  <a:tcPr>
                    <a:solidFill>
                      <a:schemeClr val="bg2"/>
                    </a:solidFill>
                  </a:tcPr>
                </a:tc>
              </a:tr>
              <a:tr h="370840">
                <a:tc>
                  <a:txBody>
                    <a:bodyPr/>
                    <a:lstStyle/>
                    <a:p>
                      <a:r>
                        <a:rPr lang="en-US" baseline="0" smtClean="0">
                          <a:solidFill>
                            <a:schemeClr val="tx1"/>
                          </a:solidFill>
                        </a:rPr>
                        <a:t>Công nghệ thông tin – CLC</a:t>
                      </a:r>
                      <a:endParaRPr lang="en-US" baseline="0" smtClean="0">
                        <a:solidFill>
                          <a:schemeClr val="tx1"/>
                        </a:solidFill>
                      </a:endParaRPr>
                    </a:p>
                  </a:txBody>
                  <a:tcPr>
                    <a:solidFill>
                      <a:schemeClr val="bg2"/>
                    </a:solidFill>
                  </a:tcPr>
                </a:tc>
                <a:tc>
                  <a:txBody>
                    <a:bodyPr/>
                    <a:lstStyle/>
                    <a:p>
                      <a:pPr algn="r"/>
                      <a:r>
                        <a:rPr lang="en-US" baseline="0" smtClean="0">
                          <a:solidFill>
                            <a:schemeClr val="tx1"/>
                          </a:solidFill>
                        </a:rPr>
                        <a:t>144</a:t>
                      </a:r>
                      <a:endParaRPr lang="en-US" baseline="0">
                        <a:solidFill>
                          <a:schemeClr val="tx1"/>
                        </a:solidFill>
                      </a:endParaRPr>
                    </a:p>
                  </a:txBody>
                  <a:tcPr>
                    <a:solidFill>
                      <a:schemeClr val="bg2"/>
                    </a:solid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aseline="0" smtClean="0">
                          <a:solidFill>
                            <a:schemeClr val="tx1"/>
                          </a:solidFill>
                        </a:rPr>
                        <a:t>Công nghệ thông tin –HA</a:t>
                      </a:r>
                      <a:endParaRPr lang="en-US" baseline="0" smtClean="0">
                        <a:solidFill>
                          <a:schemeClr val="tx1"/>
                        </a:solidFill>
                      </a:endParaRPr>
                    </a:p>
                  </a:txBody>
                  <a:tcPr>
                    <a:solidFill>
                      <a:schemeClr val="bg2"/>
                    </a:solidFill>
                  </a:tcPr>
                </a:tc>
                <a:tc>
                  <a:txBody>
                    <a:bodyPr/>
                    <a:lstStyle/>
                    <a:p>
                      <a:pPr algn="r"/>
                      <a:r>
                        <a:rPr lang="en-US" baseline="0" smtClean="0">
                          <a:solidFill>
                            <a:schemeClr val="tx1"/>
                          </a:solidFill>
                        </a:rPr>
                        <a:t>75</a:t>
                      </a:r>
                      <a:endParaRPr lang="en-US" baseline="0">
                        <a:solidFill>
                          <a:schemeClr val="tx1"/>
                        </a:solidFill>
                      </a:endParaRPr>
                    </a:p>
                  </a:txBody>
                  <a:tcPr>
                    <a:solidFill>
                      <a:schemeClr val="bg2"/>
                    </a:solidFill>
                  </a:tcPr>
                </a:tc>
              </a:tr>
              <a:tr h="370840">
                <a:tc>
                  <a:txBody>
                    <a:bodyPr/>
                    <a:lstStyle/>
                    <a:p>
                      <a:r>
                        <a:rPr lang="en-US" baseline="0" smtClean="0">
                          <a:solidFill>
                            <a:schemeClr val="tx1"/>
                          </a:solidFill>
                        </a:rPr>
                        <a:t>Mạng máy tính và truyền thông dữ liệu</a:t>
                      </a:r>
                      <a:endParaRPr lang="en-US" baseline="0">
                        <a:solidFill>
                          <a:schemeClr val="tx1"/>
                        </a:solidFill>
                      </a:endParaRPr>
                    </a:p>
                  </a:txBody>
                  <a:tcPr>
                    <a:solidFill>
                      <a:schemeClr val="bg2"/>
                    </a:solidFill>
                  </a:tcPr>
                </a:tc>
                <a:tc>
                  <a:txBody>
                    <a:bodyPr/>
                    <a:lstStyle/>
                    <a:p>
                      <a:pPr algn="r"/>
                      <a:r>
                        <a:rPr lang="en-US" baseline="0" smtClean="0">
                          <a:solidFill>
                            <a:schemeClr val="tx1"/>
                          </a:solidFill>
                        </a:rPr>
                        <a:t>149</a:t>
                      </a:r>
                      <a:endParaRPr lang="en-US" baseline="0">
                        <a:solidFill>
                          <a:schemeClr val="tx1"/>
                        </a:solidFill>
                      </a:endParaRPr>
                    </a:p>
                  </a:txBody>
                  <a:tcPr>
                    <a:solidFill>
                      <a:schemeClr val="bg2"/>
                    </a:solidFill>
                  </a:tcPr>
                </a:tc>
              </a:tr>
              <a:tr h="370840">
                <a:tc>
                  <a:txBody>
                    <a:bodyPr/>
                    <a:lstStyle/>
                    <a:p>
                      <a:r>
                        <a:rPr lang="en-US" baseline="0" smtClean="0">
                          <a:solidFill>
                            <a:schemeClr val="tx1"/>
                          </a:solidFill>
                        </a:rPr>
                        <a:t>Kỹ thuật phần mềm</a:t>
                      </a:r>
                      <a:endParaRPr lang="en-US" baseline="0">
                        <a:solidFill>
                          <a:schemeClr val="tx1"/>
                        </a:solidFill>
                      </a:endParaRPr>
                    </a:p>
                  </a:txBody>
                  <a:tcPr>
                    <a:solidFill>
                      <a:schemeClr val="bg2"/>
                    </a:solidFill>
                  </a:tcPr>
                </a:tc>
                <a:tc>
                  <a:txBody>
                    <a:bodyPr/>
                    <a:lstStyle/>
                    <a:p>
                      <a:pPr algn="r"/>
                      <a:r>
                        <a:rPr lang="en-US" baseline="0" smtClean="0">
                          <a:solidFill>
                            <a:schemeClr val="tx1"/>
                          </a:solidFill>
                        </a:rPr>
                        <a:t>266</a:t>
                      </a:r>
                      <a:endParaRPr lang="en-US" baseline="0">
                        <a:solidFill>
                          <a:schemeClr val="tx1"/>
                        </a:solidFill>
                      </a:endParaRPr>
                    </a:p>
                  </a:txBody>
                  <a:tcPr>
                    <a:solidFill>
                      <a:schemeClr val="bg2"/>
                    </a:solidFill>
                  </a:tcPr>
                </a:tc>
              </a:tr>
              <a:tr h="370840">
                <a:tc>
                  <a:txBody>
                    <a:bodyPr/>
                    <a:lstStyle/>
                    <a:p>
                      <a:r>
                        <a:rPr lang="en-US" baseline="0" smtClean="0">
                          <a:solidFill>
                            <a:schemeClr val="tx1"/>
                          </a:solidFill>
                        </a:rPr>
                        <a:t>Hệ thống thông tin</a:t>
                      </a:r>
                      <a:endParaRPr lang="en-US" baseline="0">
                        <a:solidFill>
                          <a:schemeClr val="tx1"/>
                        </a:solidFill>
                      </a:endParaRPr>
                    </a:p>
                  </a:txBody>
                  <a:tcPr>
                    <a:solidFill>
                      <a:schemeClr val="bg2"/>
                    </a:solidFill>
                  </a:tcPr>
                </a:tc>
                <a:tc>
                  <a:txBody>
                    <a:bodyPr/>
                    <a:lstStyle/>
                    <a:p>
                      <a:pPr algn="r"/>
                      <a:r>
                        <a:rPr lang="en-US" baseline="0" smtClean="0">
                          <a:solidFill>
                            <a:schemeClr val="tx1"/>
                          </a:solidFill>
                        </a:rPr>
                        <a:t>135</a:t>
                      </a:r>
                      <a:endParaRPr lang="en-US" baseline="0">
                        <a:solidFill>
                          <a:schemeClr val="tx1"/>
                        </a:solidFill>
                      </a:endParaRPr>
                    </a:p>
                  </a:txBody>
                  <a:tcPr>
                    <a:solidFill>
                      <a:schemeClr val="bg2"/>
                    </a:solidFill>
                  </a:tcPr>
                </a:tc>
              </a:tr>
              <a:tr h="370840">
                <a:tc>
                  <a:txBody>
                    <a:bodyPr/>
                    <a:lstStyle/>
                    <a:p>
                      <a:r>
                        <a:rPr lang="en-US" baseline="0" smtClean="0">
                          <a:solidFill>
                            <a:schemeClr val="tx1"/>
                          </a:solidFill>
                        </a:rPr>
                        <a:t>Khoa học máy tính</a:t>
                      </a:r>
                      <a:endParaRPr lang="en-US" baseline="0">
                        <a:solidFill>
                          <a:schemeClr val="tx1"/>
                        </a:solidFill>
                      </a:endParaRPr>
                    </a:p>
                  </a:txBody>
                  <a:tcPr>
                    <a:solidFill>
                      <a:schemeClr val="bg2"/>
                    </a:solidFill>
                  </a:tcPr>
                </a:tc>
                <a:tc>
                  <a:txBody>
                    <a:bodyPr/>
                    <a:lstStyle/>
                    <a:p>
                      <a:pPr algn="r"/>
                      <a:r>
                        <a:rPr lang="en-US" baseline="0" smtClean="0">
                          <a:solidFill>
                            <a:schemeClr val="tx1"/>
                          </a:solidFill>
                        </a:rPr>
                        <a:t>178</a:t>
                      </a:r>
                      <a:endParaRPr lang="en-US" baseline="0">
                        <a:solidFill>
                          <a:schemeClr val="tx1"/>
                        </a:solidFill>
                      </a:endParaRPr>
                    </a:p>
                  </a:txBody>
                  <a:tcPr>
                    <a:solidFill>
                      <a:schemeClr val="bg2"/>
                    </a:solidFill>
                  </a:tcPr>
                </a:tc>
              </a:tr>
              <a:tr h="370840">
                <a:tc>
                  <a:txBody>
                    <a:bodyPr/>
                    <a:lstStyle/>
                    <a:p>
                      <a:r>
                        <a:rPr lang="en-US" baseline="0" smtClean="0">
                          <a:solidFill>
                            <a:schemeClr val="tx1"/>
                          </a:solidFill>
                        </a:rPr>
                        <a:t>Tin học ứng dụng</a:t>
                      </a:r>
                      <a:endParaRPr lang="en-US" baseline="0">
                        <a:solidFill>
                          <a:schemeClr val="tx1"/>
                        </a:solidFill>
                      </a:endParaRPr>
                    </a:p>
                  </a:txBody>
                  <a:tcPr>
                    <a:solidFill>
                      <a:schemeClr val="bg2"/>
                    </a:solidFill>
                  </a:tcPr>
                </a:tc>
                <a:tc>
                  <a:txBody>
                    <a:bodyPr/>
                    <a:lstStyle/>
                    <a:p>
                      <a:pPr algn="r"/>
                      <a:r>
                        <a:rPr lang="en-US" baseline="0" smtClean="0">
                          <a:solidFill>
                            <a:schemeClr val="tx1"/>
                          </a:solidFill>
                        </a:rPr>
                        <a:t>32</a:t>
                      </a:r>
                      <a:endParaRPr lang="en-US" baseline="0">
                        <a:solidFill>
                          <a:schemeClr val="tx1"/>
                        </a:solidFill>
                      </a:endParaRPr>
                    </a:p>
                  </a:txBody>
                  <a:tcPr>
                    <a:solidFill>
                      <a:schemeClr val="bg2"/>
                    </a:solidFill>
                  </a:tcPr>
                </a:tc>
              </a:tr>
              <a:tr h="370840">
                <a:tc>
                  <a:txBody>
                    <a:bodyPr/>
                    <a:lstStyle/>
                    <a:p>
                      <a:r>
                        <a:rPr lang="en-US" baseline="0" smtClean="0">
                          <a:solidFill>
                            <a:schemeClr val="tx1"/>
                          </a:solidFill>
                        </a:rPr>
                        <a:t>Tổng</a:t>
                      </a:r>
                      <a:endParaRPr lang="en-US" baseline="0">
                        <a:solidFill>
                          <a:schemeClr val="tx1"/>
                        </a:solidFill>
                      </a:endParaRPr>
                    </a:p>
                  </a:txBody>
                  <a:tcPr>
                    <a:solidFill>
                      <a:schemeClr val="bg2"/>
                    </a:solidFill>
                  </a:tcPr>
                </a:tc>
                <a:tc>
                  <a:txBody>
                    <a:bodyPr/>
                    <a:lstStyle/>
                    <a:p>
                      <a:pPr algn="r"/>
                      <a:r>
                        <a:rPr lang="en-US" baseline="0" smtClean="0">
                          <a:solidFill>
                            <a:schemeClr val="tx1"/>
                          </a:solidFill>
                        </a:rPr>
                        <a:t>1251</a:t>
                      </a:r>
                      <a:endParaRPr lang="en-US" baseline="0">
                        <a:solidFill>
                          <a:schemeClr val="tx1"/>
                        </a:solidFill>
                      </a:endParaRPr>
                    </a:p>
                  </a:txBody>
                  <a:tcPr>
                    <a:solidFill>
                      <a:schemeClr val="bg2"/>
                    </a:solidFill>
                  </a:tcPr>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par>
    </p:tnLst>
  </p:timing>
  <p:hf hdr="0" ftr="0" dt="0"/>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EA63C3-FA46-4D89-AF91-EECB2F6A66C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151C14-8DB3-40D3-954A-2D3CEACFCB4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000" b="1" kern="1200">
          <a:solidFill>
            <a:srgbClr val="996633"/>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Times New Roman" panose="02020603050405020304" pitchFamily="18" charset="0"/>
        <a:buChar char="-"/>
        <a:defRPr sz="2800" b="1"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Times New Roman" panose="02020603050405020304" pitchFamily="18" charset="0"/>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Wingdings" panose="05000000000000000000" pitchFamily="2" charset="2"/>
        <a:buChar char="§"/>
        <a:defRPr sz="2200" b="1"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Wingdings" panose="05000000000000000000" pitchFamily="2" charset="2"/>
        <a:buChar char="ü"/>
        <a:defRPr sz="2000" b="1"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8.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3.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4.xml"/><Relationship Id="rId2" Type="http://schemas.openxmlformats.org/officeDocument/2006/relationships/tags" Target="../tags/tag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hasCustomPrompt="1"/>
          </p:nvPr>
        </p:nvSpPr>
        <p:spPr>
          <a:xfrm>
            <a:off x="1524000" y="1122363"/>
            <a:ext cx="9144000" cy="2387600"/>
          </a:xfrm>
        </p:spPr>
        <p:txBody>
          <a:bodyPr anchor="b">
            <a:normAutofit/>
          </a:bodyPr>
          <a:lstStyle>
            <a:lvl1pPr algn="ctr">
              <a:defRPr sz="5400" baseline="0"/>
            </a:lvl1pPr>
          </a:lstStyle>
          <a:p>
            <a:r>
              <a:rPr lang="en-US" smtClean="0"/>
              <a:t>BỐ CỤC MỘT BÀI THUYẾT TRÌNH</a:t>
            </a:r>
            <a:endParaRPr lang="en-US"/>
          </a:p>
        </p:txBody>
      </p:sp>
      <p:sp>
        <p:nvSpPr>
          <p:cNvPr id="9" name="Subtitle 8"/>
          <p:cNvSpPr>
            <a:spLocks noGrp="1"/>
          </p:cNvSpPr>
          <p:nvPr>
            <p:ph type="subTitle" idx="1" hasCustomPrompt="1"/>
          </p:nvPr>
        </p:nvSpPr>
        <p:spPr>
          <a:xfrm>
            <a:off x="0" y="3602355"/>
            <a:ext cx="12192000" cy="1655445"/>
          </a:xfrm>
        </p:spPr>
        <p:txBody>
          <a:bodyPr>
            <a:noAutofit/>
          </a:bodyPr>
          <a:lstStyle>
            <a:lvl1pPr marL="0" indent="0" algn="ctr">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z="4000" smtClean="0"/>
              <a:t>ThS. Họ và tên</a:t>
            </a:r>
            <a:endParaRPr lang="en-US" sz="4000" smtClean="0"/>
          </a:p>
          <a:p>
            <a:endParaRPr lang="en-US" sz="2700" smtClean="0"/>
          </a:p>
          <a:p>
            <a:endParaRPr lang="en-US" sz="2700" smtClean="0"/>
          </a:p>
          <a:p>
            <a:r>
              <a:rPr lang="en-US" sz="2700" smtClean="0"/>
              <a:t>                                                        Trích từ Tủ sách Khoa học VLOS</a:t>
            </a:r>
            <a:endParaRPr lang="en-US" sz="2700" smtClean="0"/>
          </a:p>
        </p:txBody>
      </p:sp>
      <p:sp>
        <p:nvSpPr>
          <p:cNvPr id="10" name="Slide Number Placeholder 9"/>
          <p:cNvSpPr>
            <a:spLocks noGrp="1"/>
          </p:cNvSpPr>
          <p:nvPr>
            <p:ph type="sldNum" sz="quarter" idx="12"/>
          </p:nvPr>
        </p:nvSpPr>
        <p:spPr/>
        <p:txBody>
          <a:bodyPr/>
          <a:p>
            <a:r>
              <a:rPr lang="en-US" smtClean="0"/>
              <a:t>1</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32" fill="hold" grpId="0" nodeType="clickEffect">
                                  <p:stCondLst>
                                    <p:cond delay="0"/>
                                  </p:stCondLst>
                                  <p:childTnLst>
                                    <p:animEffect transition="out" filter="box(out)">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Picture 7" descr="Nen _SlideMaster.PNJ"/>
          <p:cNvPicPr>
            <a:picLocks noChangeAspect="1"/>
          </p:cNvPicPr>
          <p:nvPr/>
        </p:nvPicPr>
        <p:blipFill>
          <a:blip r:embed="rId1"/>
          <a:stretch>
            <a:fillRect/>
          </a:stretch>
        </p:blipFill>
        <p:spPr>
          <a:xfrm>
            <a:off x="635" y="-533400"/>
            <a:ext cx="12191365" cy="7714615"/>
          </a:xfrm>
          <a:prstGeom prst="rect">
            <a:avLst/>
          </a:prstGeom>
        </p:spPr>
      </p:pic>
      <p:sp>
        <p:nvSpPr>
          <p:cNvPr id="4" name="Title 3"/>
          <p:cNvSpPr>
            <a:spLocks noGrp="1"/>
          </p:cNvSpPr>
          <p:nvPr>
            <p:ph type="title" hasCustomPrompt="1"/>
          </p:nvPr>
        </p:nvSpPr>
        <p:spPr>
          <a:xfrm>
            <a:off x="838200" y="898525"/>
            <a:ext cx="10515600" cy="1325563"/>
          </a:xfrm>
        </p:spPr>
        <p:txBody>
          <a:bodyPr/>
          <a:lstStyle>
            <a:lvl1pPr>
              <a:defRPr baseline="0"/>
            </a:lvl1pPr>
          </a:lstStyle>
          <a:p>
            <a:r>
              <a:rPr lang="en-US" smtClean="0"/>
              <a:t>Giới thiệu</a:t>
            </a:r>
            <a:endParaRPr lang="en-US"/>
          </a:p>
        </p:txBody>
      </p:sp>
      <p:sp>
        <p:nvSpPr>
          <p:cNvPr id="5" name="Content Placeholder 4"/>
          <p:cNvSpPr>
            <a:spLocks noGrp="1"/>
          </p:cNvSpPr>
          <p:nvPr>
            <p:ph idx="1" hasCustomPrompt="1"/>
          </p:nvPr>
        </p:nvSpPr>
        <p:spPr>
          <a:xfrm>
            <a:off x="838200" y="2004695"/>
            <a:ext cx="10515600" cy="4351338"/>
          </a:xfrm>
        </p:spPr>
        <p:txBody>
          <a:bodyPr/>
          <a:lstStyle>
            <a:lvl1pPr>
              <a:defRPr baseline="0"/>
            </a:lvl1pPr>
            <a:lvl2pPr>
              <a:defRPr baseline="0"/>
            </a:lvl2pPr>
          </a:lstStyle>
          <a:p>
            <a:pPr lvl="0"/>
            <a:r>
              <a:rPr lang="en-US" smtClean="0"/>
              <a:t>Phần mở đầu</a:t>
            </a:r>
            <a:endParaRPr lang="en-US" smtClean="0"/>
          </a:p>
          <a:p>
            <a:pPr lvl="1"/>
            <a:r>
              <a:rPr lang="en-US" smtClean="0"/>
              <a:t>Cần đạt được mục địch</a:t>
            </a:r>
            <a:endParaRPr lang="en-US" smtClean="0"/>
          </a:p>
          <a:p>
            <a:pPr lvl="0"/>
            <a:r>
              <a:rPr lang="en-US" smtClean="0"/>
              <a:t>Phần chính</a:t>
            </a:r>
            <a:endParaRPr lang="en-US" smtClean="0"/>
          </a:p>
          <a:p>
            <a:pPr lvl="1"/>
            <a:r>
              <a:rPr lang="en-US" smtClean="0"/>
              <a:t>Đưa ra giải pháp ý kiến</a:t>
            </a:r>
            <a:endParaRPr lang="en-US" smtClean="0"/>
          </a:p>
          <a:p>
            <a:pPr lvl="0"/>
            <a:r>
              <a:rPr lang="en-US" smtClean="0"/>
              <a:t>Phần kết</a:t>
            </a:r>
            <a:endParaRPr lang="en-US" smtClean="0"/>
          </a:p>
          <a:p>
            <a:pPr lvl="1"/>
            <a:r>
              <a:rPr lang="en-US" smtClean="0"/>
              <a:t>Tóm tắt các nội dung đã được trình bày</a:t>
            </a:r>
            <a:endParaRPr lang="en-US" smtClean="0"/>
          </a:p>
        </p:txBody>
      </p:sp>
      <p:sp>
        <p:nvSpPr>
          <p:cNvPr id="6" name="Slide Number Placeholder 5"/>
          <p:cNvSpPr>
            <a:spLocks noGrp="1"/>
          </p:cNvSpPr>
          <p:nvPr>
            <p:ph type="sldNum" sz="quarter" idx="12"/>
          </p:nvPr>
        </p:nvSpPr>
        <p:spPr/>
        <p:txBody>
          <a:bodyPr/>
          <a:p>
            <a:r>
              <a:rPr lang="en-US" smtClean="0"/>
              <a:t>2</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mph" presetSubtype="2" fill="hold" grpId="0" nodeType="clickEffect">
                                  <p:stCondLst>
                                    <p:cond delay="0"/>
                                  </p:stCondLst>
                                  <p:childTnLst>
                                    <p:anim to="1.5" calcmode="lin" valueType="num">
                                      <p:cBhvr override="childStyle">
                                        <p:cTn id="6" dur="1000" fill="hold"/>
                                        <p:tgtEl>
                                          <p:spTgt spid="4"/>
                                        </p:tgtEl>
                                        <p:attrNameLst>
                                          <p:attrName>style.fontSize</p:attrName>
                                        </p:attrNameLst>
                                      </p:cBhvr>
                                    </p:anim>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50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grpId="0" nodeType="withEffect">
                                  <p:stCondLst>
                                    <p:cond delay="50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50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50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50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bldLvl="0" build="allAtOnce"/>
      <p:bldP spid="5"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Picture 8" descr="Nen _SlideMaster.PNJ"/>
          <p:cNvPicPr>
            <a:picLocks noChangeAspect="1"/>
          </p:cNvPicPr>
          <p:nvPr/>
        </p:nvPicPr>
        <p:blipFill>
          <a:blip r:embed="rId1"/>
          <a:stretch>
            <a:fillRect/>
          </a:stretch>
        </p:blipFill>
        <p:spPr>
          <a:xfrm>
            <a:off x="635" y="-533400"/>
            <a:ext cx="12191365" cy="7714615"/>
          </a:xfrm>
          <a:prstGeom prst="rect">
            <a:avLst/>
          </a:prstGeom>
        </p:spPr>
      </p:pic>
      <p:sp>
        <p:nvSpPr>
          <p:cNvPr id="6" name="Title 5"/>
          <p:cNvSpPr>
            <a:spLocks noGrp="1"/>
          </p:cNvSpPr>
          <p:nvPr>
            <p:ph type="title" hasCustomPrompt="1"/>
          </p:nvPr>
        </p:nvSpPr>
        <p:spPr>
          <a:xfrm>
            <a:off x="838200" y="860425"/>
            <a:ext cx="10515600" cy="1325563"/>
          </a:xfrm>
        </p:spPr>
        <p:txBody>
          <a:bodyPr/>
          <a:lstStyle>
            <a:lvl1pPr>
              <a:defRPr baseline="0"/>
            </a:lvl1pPr>
          </a:lstStyle>
          <a:p>
            <a:r>
              <a:rPr lang="en-US" smtClean="0"/>
              <a:t>Phần mở đầu</a:t>
            </a:r>
            <a:endParaRPr lang="en-US"/>
          </a:p>
        </p:txBody>
      </p:sp>
      <p:sp>
        <p:nvSpPr>
          <p:cNvPr id="7" name="Content Placeholder 6"/>
          <p:cNvSpPr>
            <a:spLocks noGrp="1"/>
          </p:cNvSpPr>
          <p:nvPr>
            <p:ph idx="1" hasCustomPrompt="1"/>
          </p:nvPr>
        </p:nvSpPr>
        <p:spPr>
          <a:xfrm>
            <a:off x="838200" y="2186305"/>
            <a:ext cx="10515600" cy="4351338"/>
          </a:xfrm>
        </p:spPr>
        <p:txBody>
          <a:bodyPr/>
          <a:lstStyle>
            <a:lvl1pPr>
              <a:defRPr baseline="0"/>
            </a:lvl1pPr>
            <a:lvl2pPr>
              <a:defRPr baseline="0"/>
            </a:lvl2pPr>
          </a:lstStyle>
          <a:p>
            <a:pPr lvl="0"/>
            <a:r>
              <a:rPr lang="en-US" smtClean="0"/>
              <a:t>Thu hút sự chú ý của người nghe</a:t>
            </a:r>
            <a:endParaRPr lang="en-US" smtClean="0"/>
          </a:p>
          <a:p>
            <a:pPr lvl="1"/>
            <a:r>
              <a:rPr lang="en-US" smtClean="0">
                <a:solidFill>
                  <a:schemeClr val="tx1"/>
                </a:solidFill>
                <a:hlinkClick r:id="rId2" tooltip="" action="ppaction://hlinksldjump"/>
              </a:rPr>
              <a:t>Sử dụng một đoạn trích dẫn</a:t>
            </a:r>
            <a:endParaRPr lang="en-US" smtClean="0">
              <a:solidFill>
                <a:schemeClr val="tx1"/>
              </a:solidFill>
            </a:endParaRPr>
          </a:p>
          <a:p>
            <a:pPr lvl="1"/>
            <a:r>
              <a:rPr lang="en-US" smtClean="0"/>
              <a:t>Một câu hỏi</a:t>
            </a:r>
            <a:endParaRPr lang="en-US" smtClean="0"/>
          </a:p>
          <a:p>
            <a:pPr lvl="1"/>
            <a:r>
              <a:rPr lang="en-US" smtClean="0"/>
              <a:t>Một lời hứa</a:t>
            </a:r>
            <a:endParaRPr lang="en-US" smtClean="0"/>
          </a:p>
          <a:p>
            <a:pPr lvl="1"/>
            <a:r>
              <a:rPr lang="en-US" smtClean="0"/>
              <a:t>Thậm chí làm mọi người phải hoạt động</a:t>
            </a:r>
            <a:endParaRPr lang="en-US" smtClean="0"/>
          </a:p>
          <a:p>
            <a:pPr lvl="0"/>
            <a:r>
              <a:rPr lang="en-US" smtClean="0"/>
              <a:t>Tóm lược các nội dung liên quan</a:t>
            </a:r>
            <a:endParaRPr lang="en-US" smtClean="0"/>
          </a:p>
          <a:p>
            <a:pPr lvl="1"/>
            <a:r>
              <a:rPr lang="en-US" smtClean="0"/>
              <a:t>Đã được trình bày</a:t>
            </a:r>
            <a:endParaRPr lang="en-US" smtClean="0"/>
          </a:p>
          <a:p>
            <a:pPr lvl="1"/>
            <a:r>
              <a:rPr lang="en-US" smtClean="0"/>
              <a:t>Được đa số người nghe biết rõ</a:t>
            </a:r>
            <a:endParaRPr lang="en-US" smtClean="0"/>
          </a:p>
        </p:txBody>
      </p:sp>
      <p:sp>
        <p:nvSpPr>
          <p:cNvPr id="8" name="Slide Number Placeholder 7"/>
          <p:cNvSpPr>
            <a:spLocks noGrp="1"/>
          </p:cNvSpPr>
          <p:nvPr>
            <p:ph type="sldNum" sz="quarter" idx="12"/>
          </p:nvPr>
        </p:nvSpPr>
        <p:spPr/>
        <p:txBody>
          <a:bodyPr/>
          <a:p>
            <a:r>
              <a:rPr lang="en-US"/>
              <a:t>3</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6" grpId="2"/>
      <p:bldP spid="6" grpId="3"/>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Picture 8" descr="Nen _SlideMaster.PNJ"/>
          <p:cNvPicPr>
            <a:picLocks noChangeAspect="1"/>
          </p:cNvPicPr>
          <p:nvPr/>
        </p:nvPicPr>
        <p:blipFill>
          <a:blip r:embed="rId1"/>
          <a:stretch>
            <a:fillRect/>
          </a:stretch>
        </p:blipFill>
        <p:spPr>
          <a:xfrm>
            <a:off x="635" y="-533400"/>
            <a:ext cx="12191365" cy="7714615"/>
          </a:xfrm>
          <a:prstGeom prst="rect">
            <a:avLst/>
          </a:prstGeom>
        </p:spPr>
      </p:pic>
      <p:sp>
        <p:nvSpPr>
          <p:cNvPr id="6" name="Title 5"/>
          <p:cNvSpPr>
            <a:spLocks noGrp="1"/>
          </p:cNvSpPr>
          <p:nvPr>
            <p:ph type="title" hasCustomPrompt="1"/>
          </p:nvPr>
        </p:nvSpPr>
        <p:spPr>
          <a:xfrm>
            <a:off x="838200" y="784225"/>
            <a:ext cx="10515600" cy="1325563"/>
          </a:xfrm>
        </p:spPr>
        <p:txBody>
          <a:bodyPr/>
          <a:lstStyle>
            <a:lvl1pPr>
              <a:defRPr baseline="0"/>
            </a:lvl1pPr>
          </a:lstStyle>
          <a:p>
            <a:r>
              <a:rPr lang="en-US" smtClean="0"/>
              <a:t>Phần chính</a:t>
            </a:r>
            <a:endParaRPr lang="en-US"/>
          </a:p>
        </p:txBody>
      </p:sp>
      <p:sp>
        <p:nvSpPr>
          <p:cNvPr id="7" name="Content Placeholder 6"/>
          <p:cNvSpPr>
            <a:spLocks noGrp="1"/>
          </p:cNvSpPr>
          <p:nvPr>
            <p:ph idx="1" hasCustomPrompt="1"/>
          </p:nvPr>
        </p:nvSpPr>
        <p:spPr>
          <a:xfrm>
            <a:off x="838200" y="2110105"/>
            <a:ext cx="10515600" cy="4351338"/>
          </a:xfrm>
        </p:spPr>
        <p:txBody>
          <a:bodyPr/>
          <a:lstStyle>
            <a:lvl1pPr>
              <a:defRPr baseline="0"/>
            </a:lvl1pPr>
            <a:lvl2pPr>
              <a:defRPr baseline="0"/>
            </a:lvl2pPr>
          </a:lstStyle>
          <a:p>
            <a:pPr lvl="0"/>
            <a:r>
              <a:rPr lang="en-US" smtClean="0"/>
              <a:t>Phần chính với các nội dung</a:t>
            </a:r>
            <a:endParaRPr lang="en-US" smtClean="0"/>
          </a:p>
          <a:p>
            <a:pPr lvl="1"/>
            <a:r>
              <a:rPr lang="en-US" smtClean="0"/>
              <a:t>Vấn đề cần giải quyết, yêu cầu công việc</a:t>
            </a:r>
            <a:endParaRPr lang="en-US" smtClean="0"/>
          </a:p>
          <a:p>
            <a:pPr lvl="1"/>
            <a:r>
              <a:rPr lang="en-US" smtClean="0"/>
              <a:t>Ý tưởng và giải pháp</a:t>
            </a:r>
            <a:endParaRPr lang="en-US" smtClean="0"/>
          </a:p>
          <a:p>
            <a:pPr lvl="1"/>
            <a:r>
              <a:rPr lang="en-US" smtClean="0">
                <a:hlinkClick r:id="rId2" tooltip="" action="ppaction://hlinksldjump"/>
              </a:rPr>
              <a:t>Cung cấp ví dụ để chứng minh</a:t>
            </a:r>
            <a:endParaRPr lang="en-US" smtClean="0"/>
          </a:p>
          <a:p>
            <a:pPr lvl="1"/>
            <a:r>
              <a:rPr lang="en-US" smtClean="0"/>
              <a:t>Lợi ích khi áp dụng giải pháp</a:t>
            </a:r>
            <a:endParaRPr lang="en-US" smtClean="0"/>
          </a:p>
          <a:p>
            <a:pPr lvl="1"/>
            <a:r>
              <a:rPr lang="en-US" smtClean="0"/>
              <a:t>Chương trình hành động/các việc làm cụ thể</a:t>
            </a:r>
            <a:endParaRPr lang="en-US" smtClean="0"/>
          </a:p>
        </p:txBody>
      </p:sp>
      <p:sp>
        <p:nvSpPr>
          <p:cNvPr id="8" name="Slide Number Placeholder 7"/>
          <p:cNvSpPr>
            <a:spLocks noGrp="1"/>
          </p:cNvSpPr>
          <p:nvPr>
            <p:ph type="sldNum" sz="quarter" idx="12"/>
          </p:nvPr>
        </p:nvSpPr>
        <p:spPr/>
        <p:txBody>
          <a:bodyPr/>
          <a:p>
            <a:r>
              <a:rPr lang="en-US"/>
              <a:t>4</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Picture 7" descr="Nen _SlideMaster.PNJ"/>
          <p:cNvPicPr>
            <a:picLocks noChangeAspect="1"/>
          </p:cNvPicPr>
          <p:nvPr/>
        </p:nvPicPr>
        <p:blipFill>
          <a:blip r:embed="rId1"/>
          <a:stretch>
            <a:fillRect/>
          </a:stretch>
        </p:blipFill>
        <p:spPr>
          <a:xfrm>
            <a:off x="635" y="-533400"/>
            <a:ext cx="12191365" cy="7714615"/>
          </a:xfrm>
          <a:prstGeom prst="rect">
            <a:avLst/>
          </a:prstGeom>
        </p:spPr>
      </p:pic>
      <p:sp>
        <p:nvSpPr>
          <p:cNvPr id="4" name="Title 3"/>
          <p:cNvSpPr>
            <a:spLocks noGrp="1"/>
          </p:cNvSpPr>
          <p:nvPr>
            <p:ph type="title" hasCustomPrompt="1"/>
          </p:nvPr>
        </p:nvSpPr>
        <p:spPr>
          <a:xfrm>
            <a:off x="838200" y="955675"/>
            <a:ext cx="10515600" cy="1325563"/>
          </a:xfrm>
        </p:spPr>
        <p:txBody>
          <a:bodyPr/>
          <a:lstStyle>
            <a:lvl1pPr>
              <a:defRPr baseline="0"/>
            </a:lvl1pPr>
          </a:lstStyle>
          <a:p>
            <a:r>
              <a:rPr lang="en-US" smtClean="0"/>
              <a:t>Phần kết</a:t>
            </a:r>
            <a:endParaRPr lang="en-US"/>
          </a:p>
        </p:txBody>
      </p:sp>
      <p:sp>
        <p:nvSpPr>
          <p:cNvPr id="5" name="Content Placeholder 4"/>
          <p:cNvSpPr>
            <a:spLocks noGrp="1"/>
          </p:cNvSpPr>
          <p:nvPr>
            <p:ph idx="1" hasCustomPrompt="1"/>
          </p:nvPr>
        </p:nvSpPr>
        <p:spPr>
          <a:xfrm>
            <a:off x="838200" y="2281555"/>
            <a:ext cx="10515600" cy="4351338"/>
          </a:xfrm>
        </p:spPr>
        <p:txBody>
          <a:bodyPr/>
          <a:lstStyle>
            <a:lvl1pPr>
              <a:defRPr baseline="0"/>
            </a:lvl1pPr>
            <a:lvl2pPr>
              <a:defRPr baseline="0"/>
            </a:lvl2pPr>
          </a:lstStyle>
          <a:p>
            <a:pPr lvl="0"/>
            <a:r>
              <a:rPr lang="en-US" smtClean="0"/>
              <a:t>Tóm tắt</a:t>
            </a:r>
            <a:endParaRPr lang="en-US" smtClean="0"/>
          </a:p>
          <a:p>
            <a:pPr lvl="0"/>
            <a:r>
              <a:rPr lang="en-US" smtClean="0"/>
              <a:t>Kết luận cuối cùng</a:t>
            </a:r>
            <a:endParaRPr lang="en-US" smtClean="0"/>
          </a:p>
          <a:p>
            <a:pPr lvl="1"/>
            <a:r>
              <a:rPr lang="en-US" smtClean="0"/>
              <a:t>Liệu còn điều gì bạn muốn người nghe ghi nhớ?</a:t>
            </a:r>
            <a:endParaRPr lang="en-US" smtClean="0"/>
          </a:p>
        </p:txBody>
      </p:sp>
      <p:sp>
        <p:nvSpPr>
          <p:cNvPr id="6" name="Slide Number Placeholder 5"/>
          <p:cNvSpPr>
            <a:spLocks noGrp="1"/>
          </p:cNvSpPr>
          <p:nvPr>
            <p:ph type="sldNum" sz="quarter" idx="12"/>
          </p:nvPr>
        </p:nvSpPr>
        <p:spPr/>
        <p:txBody>
          <a:bodyPr/>
          <a:p>
            <a:r>
              <a:rPr lang="en-US"/>
              <a:t>5</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6" descr="Nen_LastSlide"/>
          <p:cNvPicPr>
            <a:picLocks noChangeAspect="1"/>
          </p:cNvPicPr>
          <p:nvPr/>
        </p:nvPicPr>
        <p:blipFill>
          <a:blip r:embed="rId1"/>
          <a:stretch>
            <a:fillRect/>
          </a:stretch>
        </p:blipFill>
        <p:spPr>
          <a:xfrm>
            <a:off x="635" y="0"/>
            <a:ext cx="12192000" cy="6858000"/>
          </a:xfrm>
          <a:prstGeom prst="rect">
            <a:avLst/>
          </a:prstGeom>
        </p:spPr>
      </p:pic>
      <p:sp>
        <p:nvSpPr>
          <p:cNvPr id="4" name="Title 3"/>
          <p:cNvSpPr>
            <a:spLocks noGrp="1"/>
          </p:cNvSpPr>
          <p:nvPr>
            <p:ph type="title" hasCustomPrompt="1"/>
          </p:nvPr>
        </p:nvSpPr>
        <p:spPr>
          <a:xfrm>
            <a:off x="2884805" y="2766336"/>
            <a:ext cx="6423991" cy="1325563"/>
          </a:xfrm>
        </p:spPr>
        <p:txBody>
          <a:bodyPr/>
          <a:lstStyle>
            <a:lvl1pPr>
              <a:defRPr baseline="0">
                <a:solidFill>
                  <a:schemeClr val="tx1"/>
                </a:solidFill>
              </a:defRPr>
            </a:lvl1pPr>
          </a:lstStyle>
          <a:p>
            <a:r>
              <a:rPr lang="en-US" smtClean="0"/>
              <a:t>Cảm ơn sự chú ý của quý vị</a:t>
            </a:r>
            <a:endParaRPr lang="en-US"/>
          </a:p>
        </p:txBody>
      </p:sp>
      <p:sp>
        <p:nvSpPr>
          <p:cNvPr id="5" name="Slide Number Placeholder 4"/>
          <p:cNvSpPr>
            <a:spLocks noGrp="1"/>
          </p:cNvSpPr>
          <p:nvPr>
            <p:ph type="sldNum" sz="quarter" idx="12"/>
          </p:nvPr>
        </p:nvSpPr>
        <p:spPr>
          <a:xfrm>
            <a:off x="8610600" y="6203950"/>
            <a:ext cx="2743200" cy="365125"/>
          </a:xfrm>
        </p:spPr>
        <p:txBody>
          <a:bodyPr/>
          <a:p>
            <a:r>
              <a:rPr lang="en-US"/>
              <a:t>6</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Picture 7" descr="Nen _SlideMaster.PNJ"/>
          <p:cNvPicPr>
            <a:picLocks noChangeAspect="1"/>
          </p:cNvPicPr>
          <p:nvPr/>
        </p:nvPicPr>
        <p:blipFill>
          <a:blip r:embed="rId1"/>
          <a:stretch>
            <a:fillRect/>
          </a:stretch>
        </p:blipFill>
        <p:spPr>
          <a:xfrm>
            <a:off x="635" y="-533400"/>
            <a:ext cx="12191365" cy="7714615"/>
          </a:xfrm>
          <a:prstGeom prst="rect">
            <a:avLst/>
          </a:prstGeom>
        </p:spPr>
      </p:pic>
      <p:sp>
        <p:nvSpPr>
          <p:cNvPr id="4" name="Title 3"/>
          <p:cNvSpPr>
            <a:spLocks noGrp="1"/>
          </p:cNvSpPr>
          <p:nvPr>
            <p:ph type="title" hasCustomPrompt="1"/>
          </p:nvPr>
        </p:nvSpPr>
        <p:spPr>
          <a:xfrm>
            <a:off x="838200" y="1031875"/>
            <a:ext cx="10515600" cy="1325563"/>
          </a:xfrm>
        </p:spPr>
        <p:txBody>
          <a:bodyPr>
            <a:normAutofit/>
          </a:bodyPr>
          <a:lstStyle>
            <a:lvl1pPr>
              <a:defRPr sz="3600" baseline="0"/>
            </a:lvl1pPr>
          </a:lstStyle>
          <a:p>
            <a:r>
              <a:rPr lang="en-US" smtClean="0"/>
              <a:t>Ví dụ: sử dụng một đoạn trích dẫn khi giới thiệu</a:t>
            </a:r>
            <a:endParaRPr lang="en-US"/>
          </a:p>
        </p:txBody>
      </p:sp>
      <p:sp>
        <p:nvSpPr>
          <p:cNvPr id="5" name="Content Placeholder 4"/>
          <p:cNvSpPr>
            <a:spLocks noGrp="1"/>
          </p:cNvSpPr>
          <p:nvPr>
            <p:ph idx="1" hasCustomPrompt="1"/>
          </p:nvPr>
        </p:nvSpPr>
        <p:spPr>
          <a:xfrm>
            <a:off x="838200" y="2206625"/>
            <a:ext cx="10515600" cy="4351338"/>
          </a:xfrm>
        </p:spPr>
        <p:txBody>
          <a:bodyPr/>
          <a:lstStyle>
            <a:lvl1pPr>
              <a:defRPr baseline="0"/>
            </a:lvl1pPr>
            <a:lvl2pPr marL="457200" indent="0">
              <a:buNone/>
              <a:defRPr baseline="0"/>
            </a:lvl2pPr>
            <a:lvl8pPr marL="3200400" indent="0">
              <a:buNone/>
              <a:defRPr/>
            </a:lvl8pPr>
          </a:lstStyle>
          <a:p>
            <a:pPr lvl="0"/>
            <a:r>
              <a:rPr lang="en-US" smtClean="0"/>
              <a:t>Ví dụ: Ta có thể phát biểu trích dẫn lợi ích khi học ngành công nghệ thông tin</a:t>
            </a:r>
            <a:endParaRPr lang="en-US" smtClean="0"/>
          </a:p>
          <a:p>
            <a:pPr lvl="1"/>
            <a:r>
              <a:rPr lang="en-US" smtClean="0"/>
              <a:t>“Hàng năm, công nghệ mới luôn được phát triển và thể hiện tầm quan trọng của nó đối với cuộc sống. Các doanh nghiệp cũng dần thay đổi về nhân sự giỏi công nghệ. Ngành học CNTT được coi là lĩnh vực ngày một phát triển và trở nên hữu ích cho các bạn muốn xây dựng sự nghiệp với ngành này. Vậy những lợi ích khi học CNTT là gì?</a:t>
            </a:r>
            <a:endParaRPr lang="en-US" smtClean="0"/>
          </a:p>
        </p:txBody>
      </p:sp>
      <p:sp>
        <p:nvSpPr>
          <p:cNvPr id="6" name="Action Button: Return 5">
            <a:hlinkClick r:id="rId2" tooltip="" action="ppaction://hlinksldjump"/>
          </p:cNvPr>
          <p:cNvSpPr/>
          <p:nvPr/>
        </p:nvSpPr>
        <p:spPr>
          <a:xfrm>
            <a:off x="6067425" y="5448300"/>
            <a:ext cx="1085850" cy="971550"/>
          </a:xfrm>
          <a:prstGeom prst="actionButtonReturn">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Slide Number Placeholder 6"/>
          <p:cNvSpPr>
            <a:spLocks noGrp="1"/>
          </p:cNvSpPr>
          <p:nvPr>
            <p:ph type="sldNum" sz="quarter" idx="12"/>
          </p:nvPr>
        </p:nvSpPr>
        <p:spPr/>
        <p:txBody>
          <a:bodyPr/>
          <a:p>
            <a:r>
              <a:rPr lang="en-US"/>
              <a:t>7</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grpId="0" nodeType="clickEffect">
                                  <p:stCondLst>
                                    <p:cond delay="0"/>
                                  </p:stCondLst>
                                  <p:childTnLst>
                                    <p:set>
                                      <p:cBhvr>
                                        <p:cTn id="6" dur="1000"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Picture 11" descr="Nen _SlideMaster.PNJ"/>
          <p:cNvPicPr>
            <a:picLocks noChangeAspect="1"/>
          </p:cNvPicPr>
          <p:nvPr/>
        </p:nvPicPr>
        <p:blipFill>
          <a:blip r:embed="rId1"/>
          <a:stretch>
            <a:fillRect/>
          </a:stretch>
        </p:blipFill>
        <p:spPr>
          <a:xfrm>
            <a:off x="635" y="-533400"/>
            <a:ext cx="12191365" cy="7714615"/>
          </a:xfrm>
          <a:prstGeom prst="rect">
            <a:avLst/>
          </a:prstGeom>
        </p:spPr>
      </p:pic>
      <p:sp>
        <p:nvSpPr>
          <p:cNvPr id="4" name="Title 3"/>
          <p:cNvSpPr>
            <a:spLocks noGrp="1"/>
          </p:cNvSpPr>
          <p:nvPr>
            <p:ph type="title" hasCustomPrompt="1"/>
          </p:nvPr>
        </p:nvSpPr>
        <p:spPr>
          <a:xfrm>
            <a:off x="838200" y="1043940"/>
            <a:ext cx="10515600" cy="1325563"/>
          </a:xfrm>
        </p:spPr>
        <p:txBody>
          <a:bodyPr/>
          <a:lstStyle>
            <a:lvl1pPr>
              <a:defRPr baseline="0"/>
            </a:lvl1pPr>
          </a:lstStyle>
          <a:p>
            <a:r>
              <a:rPr lang="en-US" smtClean="0"/>
              <a:t>Ví dụ minh chứng một vấn đề</a:t>
            </a:r>
            <a:endParaRPr lang="en-US"/>
          </a:p>
        </p:txBody>
      </p:sp>
      <p:sp>
        <p:nvSpPr>
          <p:cNvPr id="7" name="Content Placeholder 6"/>
          <p:cNvSpPr>
            <a:spLocks noGrp="1"/>
          </p:cNvSpPr>
          <p:nvPr>
            <p:ph idx="1" hasCustomPrompt="1"/>
          </p:nvPr>
        </p:nvSpPr>
        <p:spPr>
          <a:xfrm>
            <a:off x="838200" y="2369820"/>
            <a:ext cx="10515600" cy="4351338"/>
          </a:xfrm>
        </p:spPr>
        <p:style>
          <a:lnRef idx="2">
            <a:schemeClr val="accent1"/>
          </a:lnRef>
          <a:fillRef idx="0">
            <a:srgbClr val="FFFFFF"/>
          </a:fillRef>
          <a:effectRef idx="0">
            <a:srgbClr val="FFFFFF"/>
          </a:effectRef>
          <a:fontRef idx="minor">
            <a:schemeClr val="tx1"/>
          </a:fontRef>
        </p:style>
        <p:txBody>
          <a:bodyPr/>
          <a:lstStyle>
            <a:lvl1pPr>
              <a:defRPr baseline="0"/>
            </a:lvl1pPr>
            <a:lvl2pPr marL="457200" marR="0" indent="0" algn="l" defTabSz="914400" rtl="0" eaLnBrk="1" fontAlgn="auto" latinLnBrk="0" hangingPunct="1">
              <a:lnSpc>
                <a:spcPct val="90000"/>
              </a:lnSpc>
              <a:spcBef>
                <a:spcPts val="500"/>
              </a:spcBef>
              <a:spcAft>
                <a:spcPts val="0"/>
              </a:spcAft>
              <a:buClrTx/>
              <a:buSzTx/>
              <a:buFont typeface="Times New Roman" panose="02020603050405020304" pitchFamily="18" charset="0"/>
              <a:buNone/>
              <a:defRPr sz="2800" baseline="0"/>
            </a:lvl2pPr>
          </a:lstStyle>
          <a:p>
            <a:pPr lvl="0"/>
            <a:r>
              <a:rPr lang="en-US" smtClean="0"/>
              <a:t>Bảng thống kê kết quả tuyển sinh 2020</a:t>
            </a:r>
            <a:endParaRPr lang="en-US" smtClean="0"/>
          </a:p>
          <a:p>
            <a:pPr marL="457200" marR="0" lvl="1" indent="0" algn="l" defTabSz="914400" rtl="0" eaLnBrk="1" fontAlgn="auto" latinLnBrk="0" hangingPunct="1">
              <a:lnSpc>
                <a:spcPct val="90000"/>
              </a:lnSpc>
              <a:spcBef>
                <a:spcPts val="500"/>
              </a:spcBef>
              <a:spcAft>
                <a:spcPts val="0"/>
              </a:spcAft>
              <a:buClrTx/>
              <a:buSzTx/>
              <a:buFont typeface="Times New Roman" panose="02020603050405020304" pitchFamily="18" charset="0"/>
              <a:buNone/>
              <a:defRPr/>
            </a:pPr>
            <a:r>
              <a:rPr lang="en-US" sz="1800" b="1" i="0" u="none" strike="noStrike" kern="1200" smtClean="0">
                <a:solidFill>
                  <a:srgbClr val="FFFFFF"/>
                </a:solidFill>
                <a:effectLst/>
                <a:latin typeface="Calibri" panose="020F0502020204030204" pitchFamily="34" charset="0"/>
              </a:rPr>
              <a:t>t</a:t>
            </a:r>
            <a:endParaRPr lang="en-US" sz="1800" b="0" i="0" u="none" strike="noStrike" smtClean="0">
              <a:effectLst/>
              <a:latin typeface="Arial" panose="020B0604020202020204" pitchFamily="34" charset="0"/>
            </a:endParaRPr>
          </a:p>
          <a:p>
            <a:pPr lvl="1"/>
            <a:endParaRPr lang="en-US" smtClean="0"/>
          </a:p>
        </p:txBody>
      </p:sp>
      <p:graphicFrame>
        <p:nvGraphicFramePr>
          <p:cNvPr id="8" name="Table 7"/>
          <p:cNvGraphicFramePr/>
          <p:nvPr>
            <p:custDataLst>
              <p:tags r:id="rId2"/>
            </p:custDataLst>
          </p:nvPr>
        </p:nvGraphicFramePr>
        <p:xfrm>
          <a:off x="1019175" y="2911475"/>
          <a:ext cx="10154920" cy="3657600"/>
        </p:xfrm>
        <a:graphic>
          <a:graphicData uri="http://schemas.openxmlformats.org/drawingml/2006/table">
            <a:tbl>
              <a:tblPr firstRow="1" bandRow="1">
                <a:tableStyleId>{5C22544A-7EE6-4342-B048-85BDC9FD1C3A}</a:tableStyleId>
              </a:tblPr>
              <a:tblGrid>
                <a:gridCol w="5077460"/>
                <a:gridCol w="5077460"/>
              </a:tblGrid>
              <a:tr h="365760">
                <a:tc>
                  <a:txBody>
                    <a:bodyPr/>
                    <a:p>
                      <a:r>
                        <a:rPr lang="en-US" baseline="0" smtClean="0">
                          <a:solidFill>
                            <a:schemeClr val="tx1"/>
                          </a:solidFill>
                        </a:rPr>
                        <a:t>Tên ngành/chuyên ngành</a:t>
                      </a:r>
                      <a:endParaRPr lang="en-US" baseline="0" smtClean="0">
                        <a:solidFill>
                          <a:schemeClr val="tx1"/>
                        </a:solidFill>
                      </a:endParaRPr>
                    </a:p>
                  </a:txBody>
                  <a:tcPr/>
                </a:tc>
                <a:tc>
                  <a:txBody>
                    <a:bodyPr/>
                    <a:p>
                      <a:pPr algn="r"/>
                      <a:r>
                        <a:rPr lang="en-US" baseline="0" smtClean="0">
                          <a:solidFill>
                            <a:schemeClr val="tx1"/>
                          </a:solidFill>
                        </a:rPr>
                        <a:t>Số lượng tuyển sinh</a:t>
                      </a:r>
                      <a:endParaRPr lang="en-US" baseline="0">
                        <a:solidFill>
                          <a:schemeClr val="tx1"/>
                        </a:solidFill>
                      </a:endParaRPr>
                    </a:p>
                  </a:txBody>
                  <a:tcPr/>
                </a:tc>
              </a:tr>
              <a:tr h="365760">
                <a:tc>
                  <a:txBody>
                    <a:bodyPr/>
                    <a:p>
                      <a:r>
                        <a:rPr lang="en-US" baseline="0" smtClean="0">
                          <a:solidFill>
                            <a:schemeClr val="tx1"/>
                          </a:solidFill>
                        </a:rPr>
                        <a:t>Công nghệ thông tin</a:t>
                      </a:r>
                      <a:endParaRPr lang="en-US" baseline="0">
                        <a:solidFill>
                          <a:schemeClr val="tx1"/>
                        </a:solidFill>
                      </a:endParaRPr>
                    </a:p>
                  </a:txBody>
                  <a:tcPr/>
                </a:tc>
                <a:tc>
                  <a:txBody>
                    <a:bodyPr/>
                    <a:p>
                      <a:pPr algn="r"/>
                      <a:r>
                        <a:rPr lang="en-US" baseline="0" smtClean="0">
                          <a:solidFill>
                            <a:schemeClr val="tx1"/>
                          </a:solidFill>
                        </a:rPr>
                        <a:t>272</a:t>
                      </a:r>
                      <a:endParaRPr lang="en-US" baseline="0">
                        <a:solidFill>
                          <a:schemeClr val="tx1"/>
                        </a:solidFill>
                      </a:endParaRPr>
                    </a:p>
                  </a:txBody>
                  <a:tcPr/>
                </a:tc>
              </a:tr>
              <a:tr h="365760">
                <a:tc>
                  <a:txBody>
                    <a:bodyPr/>
                    <a:p>
                      <a:r>
                        <a:rPr lang="en-US" baseline="0" smtClean="0">
                          <a:solidFill>
                            <a:schemeClr val="tx1"/>
                          </a:solidFill>
                        </a:rPr>
                        <a:t>Công nghệ thông tin – CLC</a:t>
                      </a:r>
                      <a:endParaRPr lang="en-US" baseline="0" smtClean="0">
                        <a:solidFill>
                          <a:schemeClr val="tx1"/>
                        </a:solidFill>
                      </a:endParaRPr>
                    </a:p>
                  </a:txBody>
                  <a:tcPr/>
                </a:tc>
                <a:tc>
                  <a:txBody>
                    <a:bodyPr/>
                    <a:p>
                      <a:pPr algn="r"/>
                      <a:r>
                        <a:rPr lang="en-US" baseline="0" smtClean="0">
                          <a:solidFill>
                            <a:schemeClr val="tx1"/>
                          </a:solidFill>
                        </a:rPr>
                        <a:t>144</a:t>
                      </a:r>
                      <a:endParaRPr lang="en-US" baseline="0">
                        <a:solidFill>
                          <a:schemeClr val="tx1"/>
                        </a:solidFill>
                      </a:endParaRPr>
                    </a:p>
                  </a:txBody>
                  <a:tcPr/>
                </a:tc>
              </a:tr>
              <a:tr h="365760">
                <a:tc>
                  <a:txBody>
                    <a:bodyPr/>
                    <a:p>
                      <a:pPr marL="0" marR="0" indent="0" algn="l" defTabSz="914400" rtl="0" eaLnBrk="1" fontAlgn="auto" latinLnBrk="0" hangingPunct="1">
                        <a:lnSpc>
                          <a:spcPct val="100000"/>
                        </a:lnSpc>
                        <a:spcBef>
                          <a:spcPts val="0"/>
                        </a:spcBef>
                        <a:spcAft>
                          <a:spcPts val="0"/>
                        </a:spcAft>
                        <a:buClrTx/>
                        <a:buSzTx/>
                        <a:buFontTx/>
                        <a:buNone/>
                        <a:defRPr/>
                      </a:pPr>
                      <a:r>
                        <a:rPr lang="en-US" baseline="0" smtClean="0">
                          <a:solidFill>
                            <a:schemeClr val="tx1"/>
                          </a:solidFill>
                        </a:rPr>
                        <a:t>Công nghệ thông tin –HA</a:t>
                      </a:r>
                      <a:endParaRPr lang="en-US" baseline="0" smtClean="0">
                        <a:solidFill>
                          <a:schemeClr val="tx1"/>
                        </a:solidFill>
                      </a:endParaRPr>
                    </a:p>
                  </a:txBody>
                  <a:tcPr/>
                </a:tc>
                <a:tc>
                  <a:txBody>
                    <a:bodyPr/>
                    <a:p>
                      <a:pPr algn="r"/>
                      <a:r>
                        <a:rPr lang="en-US" baseline="0" smtClean="0">
                          <a:solidFill>
                            <a:schemeClr val="tx1"/>
                          </a:solidFill>
                        </a:rPr>
                        <a:t>75</a:t>
                      </a:r>
                      <a:endParaRPr lang="en-US" baseline="0">
                        <a:solidFill>
                          <a:schemeClr val="tx1"/>
                        </a:solidFill>
                      </a:endParaRPr>
                    </a:p>
                  </a:txBody>
                  <a:tcPr/>
                </a:tc>
              </a:tr>
              <a:tr h="365760">
                <a:tc>
                  <a:txBody>
                    <a:bodyPr/>
                    <a:p>
                      <a:r>
                        <a:rPr lang="en-US" baseline="0" smtClean="0">
                          <a:solidFill>
                            <a:schemeClr val="tx1"/>
                          </a:solidFill>
                        </a:rPr>
                        <a:t>Mạng máy tính và truyền thông dữ liệu</a:t>
                      </a:r>
                      <a:endParaRPr lang="en-US" baseline="0">
                        <a:solidFill>
                          <a:schemeClr val="tx1"/>
                        </a:solidFill>
                      </a:endParaRPr>
                    </a:p>
                  </a:txBody>
                  <a:tcPr/>
                </a:tc>
                <a:tc>
                  <a:txBody>
                    <a:bodyPr/>
                    <a:p>
                      <a:pPr algn="r"/>
                      <a:r>
                        <a:rPr lang="en-US" baseline="0" smtClean="0">
                          <a:solidFill>
                            <a:schemeClr val="tx1"/>
                          </a:solidFill>
                        </a:rPr>
                        <a:t>149</a:t>
                      </a:r>
                      <a:endParaRPr lang="en-US" baseline="0">
                        <a:solidFill>
                          <a:schemeClr val="tx1"/>
                        </a:solidFill>
                      </a:endParaRPr>
                    </a:p>
                  </a:txBody>
                  <a:tcPr/>
                </a:tc>
              </a:tr>
              <a:tr h="365760">
                <a:tc>
                  <a:txBody>
                    <a:bodyPr/>
                    <a:p>
                      <a:r>
                        <a:rPr lang="en-US" baseline="0" smtClean="0">
                          <a:solidFill>
                            <a:schemeClr val="tx1"/>
                          </a:solidFill>
                        </a:rPr>
                        <a:t>Kỹ thuật phần mềm</a:t>
                      </a:r>
                      <a:endParaRPr lang="en-US" baseline="0">
                        <a:solidFill>
                          <a:schemeClr val="tx1"/>
                        </a:solidFill>
                      </a:endParaRPr>
                    </a:p>
                  </a:txBody>
                  <a:tcPr/>
                </a:tc>
                <a:tc>
                  <a:txBody>
                    <a:bodyPr/>
                    <a:p>
                      <a:pPr algn="r"/>
                      <a:r>
                        <a:rPr lang="en-US" baseline="0" smtClean="0">
                          <a:solidFill>
                            <a:schemeClr val="tx1"/>
                          </a:solidFill>
                        </a:rPr>
                        <a:t>266</a:t>
                      </a:r>
                      <a:endParaRPr lang="en-US" baseline="0">
                        <a:solidFill>
                          <a:schemeClr val="tx1"/>
                        </a:solidFill>
                      </a:endParaRPr>
                    </a:p>
                  </a:txBody>
                  <a:tcPr/>
                </a:tc>
              </a:tr>
              <a:tr h="365760">
                <a:tc>
                  <a:txBody>
                    <a:bodyPr/>
                    <a:p>
                      <a:r>
                        <a:rPr lang="en-US" baseline="0" smtClean="0">
                          <a:solidFill>
                            <a:schemeClr val="tx1"/>
                          </a:solidFill>
                        </a:rPr>
                        <a:t>Hệ thống thông tin</a:t>
                      </a:r>
                      <a:endParaRPr lang="en-US" baseline="0">
                        <a:solidFill>
                          <a:schemeClr val="tx1"/>
                        </a:solidFill>
                      </a:endParaRPr>
                    </a:p>
                  </a:txBody>
                  <a:tcPr/>
                </a:tc>
                <a:tc>
                  <a:txBody>
                    <a:bodyPr/>
                    <a:p>
                      <a:pPr algn="r"/>
                      <a:r>
                        <a:rPr lang="en-US" baseline="0" smtClean="0">
                          <a:solidFill>
                            <a:schemeClr val="tx1"/>
                          </a:solidFill>
                        </a:rPr>
                        <a:t>135</a:t>
                      </a:r>
                      <a:endParaRPr lang="en-US" baseline="0">
                        <a:solidFill>
                          <a:schemeClr val="tx1"/>
                        </a:solidFill>
                      </a:endParaRPr>
                    </a:p>
                  </a:txBody>
                  <a:tcPr/>
                </a:tc>
              </a:tr>
              <a:tr h="365760">
                <a:tc>
                  <a:txBody>
                    <a:bodyPr/>
                    <a:p>
                      <a:r>
                        <a:rPr lang="en-US" baseline="0" smtClean="0">
                          <a:solidFill>
                            <a:schemeClr val="tx1"/>
                          </a:solidFill>
                        </a:rPr>
                        <a:t>Khoa học máy tính</a:t>
                      </a:r>
                      <a:endParaRPr lang="en-US" baseline="0">
                        <a:solidFill>
                          <a:schemeClr val="tx1"/>
                        </a:solidFill>
                      </a:endParaRPr>
                    </a:p>
                  </a:txBody>
                  <a:tcPr/>
                </a:tc>
                <a:tc>
                  <a:txBody>
                    <a:bodyPr/>
                    <a:p>
                      <a:pPr algn="r"/>
                      <a:r>
                        <a:rPr lang="en-US" baseline="0" smtClean="0">
                          <a:solidFill>
                            <a:schemeClr val="tx1"/>
                          </a:solidFill>
                        </a:rPr>
                        <a:t>178</a:t>
                      </a:r>
                      <a:endParaRPr lang="en-US" baseline="0">
                        <a:solidFill>
                          <a:schemeClr val="tx1"/>
                        </a:solidFill>
                      </a:endParaRPr>
                    </a:p>
                  </a:txBody>
                  <a:tcPr/>
                </a:tc>
              </a:tr>
              <a:tr h="365760">
                <a:tc>
                  <a:txBody>
                    <a:bodyPr/>
                    <a:p>
                      <a:r>
                        <a:rPr lang="en-US" baseline="0" smtClean="0">
                          <a:solidFill>
                            <a:schemeClr val="tx1"/>
                          </a:solidFill>
                        </a:rPr>
                        <a:t>Tin học ứng dụng</a:t>
                      </a:r>
                      <a:endParaRPr lang="en-US" baseline="0">
                        <a:solidFill>
                          <a:schemeClr val="tx1"/>
                        </a:solidFill>
                      </a:endParaRPr>
                    </a:p>
                  </a:txBody>
                  <a:tcPr/>
                </a:tc>
                <a:tc>
                  <a:txBody>
                    <a:bodyPr/>
                    <a:p>
                      <a:pPr algn="r"/>
                      <a:r>
                        <a:rPr lang="en-US" baseline="0" smtClean="0">
                          <a:solidFill>
                            <a:schemeClr val="tx1"/>
                          </a:solidFill>
                        </a:rPr>
                        <a:t>32</a:t>
                      </a:r>
                      <a:endParaRPr lang="en-US" baseline="0">
                        <a:solidFill>
                          <a:schemeClr val="tx1"/>
                        </a:solidFill>
                      </a:endParaRPr>
                    </a:p>
                  </a:txBody>
                  <a:tcPr/>
                </a:tc>
              </a:tr>
              <a:tr h="365760">
                <a:tc>
                  <a:txBody>
                    <a:bodyPr/>
                    <a:p>
                      <a:r>
                        <a:rPr lang="en-US" baseline="0" smtClean="0">
                          <a:solidFill>
                            <a:schemeClr val="tx1"/>
                          </a:solidFill>
                        </a:rPr>
                        <a:t>Tổng</a:t>
                      </a:r>
                      <a:endParaRPr lang="en-US" baseline="0">
                        <a:solidFill>
                          <a:schemeClr val="tx1"/>
                        </a:solidFill>
                      </a:endParaRPr>
                    </a:p>
                  </a:txBody>
                  <a:tcPr/>
                </a:tc>
                <a:tc>
                  <a:txBody>
                    <a:bodyPr/>
                    <a:p>
                      <a:pPr algn="r"/>
                      <a:r>
                        <a:rPr lang="en-US" baseline="0" smtClean="0">
                          <a:solidFill>
                            <a:schemeClr val="tx1"/>
                          </a:solidFill>
                        </a:rPr>
                        <a:t>1251</a:t>
                      </a:r>
                      <a:endParaRPr lang="en-US" baseline="0">
                        <a:solidFill>
                          <a:schemeClr val="tx1"/>
                        </a:solidFill>
                      </a:endParaRPr>
                    </a:p>
                  </a:txBody>
                  <a:tcPr/>
                </a:tc>
              </a:tr>
            </a:tbl>
          </a:graphicData>
        </a:graphic>
      </p:graphicFrame>
      <p:sp>
        <p:nvSpPr>
          <p:cNvPr id="10" name="Action Button: Return 9">
            <a:hlinkClick r:id="rId3" action="ppaction://hlinksldjump"/>
          </p:cNvPr>
          <p:cNvSpPr/>
          <p:nvPr/>
        </p:nvSpPr>
        <p:spPr>
          <a:xfrm>
            <a:off x="8924925" y="1202055"/>
            <a:ext cx="1085850" cy="1009650"/>
          </a:xfrm>
          <a:prstGeom prst="actionButtonReturn">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Slide Number Placeholder 10"/>
          <p:cNvSpPr>
            <a:spLocks noGrp="1"/>
          </p:cNvSpPr>
          <p:nvPr>
            <p:ph type="sldNum" sz="quarter" idx="12"/>
          </p:nvPr>
        </p:nvSpPr>
        <p:spPr/>
        <p:txBody>
          <a:bodyPr/>
          <a:p>
            <a:r>
              <a:rPr lang="en-US"/>
              <a:t>8</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xit" presetSubtype="32" fill="hold" grpId="0" nodeType="clickEffect">
                                  <p:stCondLst>
                                    <p:cond delay="0"/>
                                  </p:stCondLst>
                                  <p:childTnLst>
                                    <p:animEffect transition="out" filter="diamond(out)">
                                      <p:cBhvr>
                                        <p:cTn id="6" dur="1000"/>
                                        <p:tgtEl>
                                          <p:spTgt spid="4"/>
                                        </p:tgtEl>
                                      </p:cBhvr>
                                    </p:animEffect>
                                    <p:set>
                                      <p:cBhvr>
                                        <p:cTn id="7" dur="1" fill="hold">
                                          <p:stCondLst>
                                            <p:cond delay="9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tags/tag1.xml><?xml version="1.0" encoding="utf-8"?>
<p:tagLst xmlns:p="http://schemas.openxmlformats.org/presentationml/2006/main">
  <p:tag name="TABLE_ENDDRAG_ORIGIN_RECT" val="799*280"/>
  <p:tag name="TABLE_ENDDRAG_RECT" val="66*229*799*280"/>
</p:tagLst>
</file>

<file path=ppt/theme/theme1.xml><?xml version="1.0" encoding="utf-8"?>
<a:theme xmlns:a="http://schemas.openxmlformats.org/drawingml/2006/main" name="hình Nen_SlideMast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1518</Words>
  <Application>WPS Presentation</Application>
  <PresentationFormat>Widescreen</PresentationFormat>
  <Paragraphs>111</Paragraphs>
  <Slides>8</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Arial</vt:lpstr>
      <vt:lpstr>SimSun</vt:lpstr>
      <vt:lpstr>Wingdings</vt:lpstr>
      <vt:lpstr>Times New Roman</vt:lpstr>
      <vt:lpstr>Calibri</vt:lpstr>
      <vt:lpstr>Microsoft YaHei</vt:lpstr>
      <vt:lpstr>Arial Unicode MS</vt:lpstr>
      <vt:lpstr>hình Nen_SlideMaster</vt:lpstr>
      <vt:lpstr>BỐ CỤC MỘT BÀI THUYẾT TRÌNH</vt:lpstr>
      <vt:lpstr>Giới thiệu</vt:lpstr>
      <vt:lpstr>Phần mở đầu</vt:lpstr>
      <vt:lpstr>Phần chính</vt:lpstr>
      <vt:lpstr>Phần kết</vt:lpstr>
      <vt:lpstr>Cảm ơn sự chú ý của quý vị</vt:lpstr>
      <vt:lpstr>Ví dụ: sử dụng một đoạn trích dẫn khi giới thiệu</vt:lpstr>
      <vt:lpstr>Ví dụ minh chứng một vấn đề</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WPS_1731057851</cp:lastModifiedBy>
  <cp:revision>14</cp:revision>
  <dcterms:created xsi:type="dcterms:W3CDTF">2025-10-21T00:30:00Z</dcterms:created>
  <dcterms:modified xsi:type="dcterms:W3CDTF">2025-10-21T13:32:27Z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873FC8A19D364BCD9A610C74AE9F6245_13</vt:lpwstr>
  </property>
  <property fmtid="{D5CDD505-2E9C-101B-9397-08002B2CF9AE}" pid="3" name="KSOProductBuildVer">
    <vt:lpwstr>1033-12.2.0.22549</vt:lpwstr>
  </property>
</Properties>
</file>